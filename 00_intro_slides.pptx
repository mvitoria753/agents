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4" r:id="rId14"/>
    <p:sldId id="265" r:id="rId15"/>
    <p:sldId id="268" r:id="rId18"/>
    <p:sldId id="269" r:id="rId19"/>
    <p:sldId id="279" r:id="rId29"/>
  </p:sldIdLst>
  <p:sldSz cx="18288000" cy="10287000"/>
  <p:notesSz cx="6858000" cy="9144000"/>
  <p:embeddedFontLst>
    <p:embeddedFont>
      <p:font typeface="Cambria Bold" charset="1" panose="02040803050406030204"/>
      <p:regular r:id="rId34"/>
    </p:embeddedFont>
    <p:embeddedFont>
      <p:font typeface="Calibri (MS)" charset="1" panose="020F0502020204030204"/>
      <p:regular r:id="rId35"/>
    </p:embeddedFont>
    <p:embeddedFont>
      <p:font typeface="Calibri (MS) Bold" charset="1" panose="020F0702030404030204"/>
      <p:regular r:id="rId37"/>
    </p:embeddedFont>
    <p:embeddedFont>
      <p:font typeface="Calibri (MS) Italics" charset="1" panose="020F05020202040A0204"/>
      <p:regular r:id="rId38"/>
    </p:embeddedFont>
    <p:embeddedFont>
      <p:font typeface="Cambria" charset="1" panose="02040503050406030204"/>
      <p:regular r:id="rId40"/>
    </p:embeddedFont>
    <p:embeddedFont>
      <p:font typeface="Courier New" charset="1" panose="02070309020205020404"/>
      <p:regular r:id="rId43"/>
    </p:embeddedFont>
    <p:embeddedFont>
      <p:font typeface="Calibri (MS) Bold Italics" charset="1" panose="020F07020304040A02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6.xml" Type="http://schemas.openxmlformats.org/officeDocument/2006/relationships/notesSlide"/><Relationship Id="rId47" Target="notesSlides/notesSlide9.xml" Type="http://schemas.openxmlformats.org/officeDocument/2006/relationships/notesSlide"/><Relationship Id="rId48" Target="fonts/font48.fntdata" Type="http://schemas.openxmlformats.org/officeDocument/2006/relationships/font"/><Relationship Id="rId49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52" Target="notesSlides/notesSlide13.xml" Type="http://schemas.openxmlformats.org/officeDocument/2006/relationships/notesSlide"/><Relationship Id="rId53" Target="notesSlides/notesSlide14.xml" Type="http://schemas.openxmlformats.org/officeDocument/2006/relationships/notesSlide"/><Relationship Id="rId6" Target="slides/slide1.xml" Type="http://schemas.openxmlformats.org/officeDocument/2006/relationships/slide"/><Relationship Id="rId63" Target="notesSlides/notesSlide24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Opening line: 'Everyone here has used an AI chat. Almost nobody here has used an agent. In 15 minutes I want to explain what an agent is — then you will use one yourself in the notebook.'</a:t>
            </a:r>
          </a:p>
          <a:p>
            <a:r>
              <a:rPr lang="en-US"/>
              <a:t/>
            </a:r>
          </a:p>
          <a:p>
            <a:r>
              <a:rPr lang="en-US"/>
              <a:t>Set expectations: what an agent is (5 min), how to work with one safely (10 min), then the hands-on notebook.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Ask for a show of hands: who has used ChatGPT/Claude for their research? (most hands). Who has let one run a command on their machine? (few).</a:t>
            </a:r>
          </a:p>
          <a:p>
            <a:r>
              <a:rPr lang="en-US"/>
              <a:t/>
            </a:r>
          </a:p>
          <a:p>
            <a:r>
              <a:rPr lang="en-US"/>
              <a:t>The point of the slide: the intelligence is not new. The autonomy is new. Everything in the left column is the same model as the right column.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Stress point 3. People assume the magic is in the model. The magic is in the feedback: the agent gets to see the traceback, the actual numbers, the actual file — and correct itself. That is what a chat window cannot do.</a:t>
            </a:r>
          </a:p>
          <a:p>
            <a:r>
              <a:rPr lang="en-US"/>
              <a:t/>
            </a:r>
          </a:p>
          <a:p>
            <a:r>
              <a:rPr lang="en-US"/>
              <a:t>Point 4 is the one people forget and it's why I have a whole section on it later.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Draw the loop on the board if you can — it is the single idea the talk rests on.</a:t>
            </a:r>
          </a:p>
          <a:p>
            <a:r>
              <a:rPr lang="en-US"/>
              <a:t/>
            </a:r>
          </a:p>
          <a:p>
            <a:r>
              <a:rPr lang="en-US"/>
              <a:t>Analogy that works well: it is the same loop you run when debugging a VASP job. Read the error, form a hypothesis, change one tag, resubmit, look again. The agent runs that loop at machine speed. It is not smarter than you at the loop; it is faster, and it never gets bored on pass number nine.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Say plainly: this is JSON going back and forth. Nothing mystical. If you can write a Python function, you can give an agent a new capability.</a:t>
            </a:r>
          </a:p>
          <a:p>
            <a:r>
              <a:rPr lang="en-US"/>
              <a:t/>
            </a:r>
          </a:p>
          <a:p>
            <a:r>
              <a:rPr lang="en-US"/>
              <a:t>The example is deliberately the La–Ni–O system so it links forward to the demo.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Analogy: MCP is USB-C for tools. Before it, every agent needed a custom integration for every data source. Now the database provider writes one server.</a:t>
            </a:r>
          </a:p>
          <a:p>
            <a:r>
              <a:rPr lang="en-US"/>
              <a:t/>
            </a:r>
          </a:p>
          <a:p>
            <a:r>
              <a:rPr lang="en-US"/>
              <a:t>This matters for us because it means a group can expose its own tooling — a VASP input generator, a cluster queue reader — and every member's agent picks it up.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postdoc analogy does a lot of work — it sets the supervision level correctly. You wouldn't let a brand-new postdoc overwrite the group's production directory on day one, and you wouldn't put their first calculation in a paper unchecked. Same here.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If the audience remembers one slide, make it this one.</a:t>
            </a:r>
          </a:p>
          <a:p>
            <a:r>
              <a:rPr lang="en-US"/>
              <a:t/>
            </a:r>
          </a:p>
          <a:p>
            <a:r>
              <a:rPr lang="en-US"/>
              <a:t>Step 2 deserves emphasis: 'plan first, don't execute' is the single highest-value habit. It turns a 20-minute wrong turn into a 20-second correction.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slide your colleagues' PIs will care about. Be concrete about LNCC/SDumont: shared allocation, shared filesystem, other people's data.</a:t>
            </a:r>
          </a:p>
          <a:p>
            <a:r>
              <a:rPr lang="en-US"/>
              <a:t/>
            </a:r>
          </a:p>
          <a:p>
            <a:r>
              <a:rPr lang="en-US"/>
              <a:t>The last point deserves a pause — unpublished results and manuscripts under review go to an external API if the agent reads them. That's an institutional policy question, not a technical one.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Tell a real failure story of your own here if you have one — it buys more credibility than any success demo. Audiences distrust talks that only show wins.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Transition to the notebook. Offer to sit with anyone afterwards to get their own setup working. Further reading: docs.materialsproject.org/services/ml-and-ai-applications/mcp and modelcontextprotocol.io</a:t>
            </a:r>
          </a:p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100">
            <a:off x="12197648" y="2532698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352900">
            <a:off x="11511848" y="3218498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47100">
            <a:off x="12197648" y="39042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52900">
            <a:off x="11511848" y="45900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7100">
            <a:off x="12197648" y="52758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352900">
            <a:off x="11511848" y="59616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7100">
            <a:off x="12197648" y="66474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47100">
            <a:off x="13569248" y="2532698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52900">
            <a:off x="12883448" y="3218498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7100">
            <a:off x="13569248" y="39042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352900">
            <a:off x="12883448" y="45900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47100">
            <a:off x="13569248" y="52758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352900">
            <a:off x="12883448" y="59616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47100">
            <a:off x="13569248" y="66474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47100">
            <a:off x="14940848" y="2532698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5352900">
            <a:off x="14255048" y="3218498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47100">
            <a:off x="14940848" y="39042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5352900">
            <a:off x="14255048" y="45900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47100">
            <a:off x="14940848" y="52758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5352900">
            <a:off x="14255048" y="59616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47100">
            <a:off x="14940848" y="66474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5352900">
            <a:off x="15626648" y="3218498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5352900">
            <a:off x="15626648" y="45900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5352900">
            <a:off x="15626648" y="5961697"/>
            <a:ext cx="1390783" cy="0"/>
          </a:xfrm>
          <a:prstGeom prst="line">
            <a:avLst/>
          </a:prstGeom>
          <a:ln cap="rnd" w="9525">
            <a:solidFill>
              <a:srgbClr val="2E486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2056364" y="2386584"/>
            <a:ext cx="301752" cy="301752"/>
            <a:chOff x="0" y="0"/>
            <a:chExt cx="402336" cy="4023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104370" y="3806190"/>
            <a:ext cx="205740" cy="205740"/>
            <a:chOff x="0" y="0"/>
            <a:chExt cx="274320" cy="274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137160"/>
                  </a:moveTo>
                  <a:cubicBezTo>
                    <a:pt x="0" y="61468"/>
                    <a:pt x="61468" y="0"/>
                    <a:pt x="137160" y="0"/>
                  </a:cubicBezTo>
                  <a:cubicBezTo>
                    <a:pt x="212852" y="0"/>
                    <a:pt x="274320" y="61468"/>
                    <a:pt x="274320" y="137160"/>
                  </a:cubicBezTo>
                  <a:cubicBezTo>
                    <a:pt x="274320" y="212852"/>
                    <a:pt x="212852" y="274320"/>
                    <a:pt x="137160" y="274320"/>
                  </a:cubicBezTo>
                  <a:cubicBezTo>
                    <a:pt x="61468" y="274320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6E86A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056364" y="5129784"/>
            <a:ext cx="301752" cy="301752"/>
            <a:chOff x="0" y="0"/>
            <a:chExt cx="402336" cy="4023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104370" y="6549390"/>
            <a:ext cx="205740" cy="205740"/>
            <a:chOff x="0" y="0"/>
            <a:chExt cx="274320" cy="2743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137160"/>
                  </a:moveTo>
                  <a:cubicBezTo>
                    <a:pt x="0" y="61468"/>
                    <a:pt x="61468" y="0"/>
                    <a:pt x="137160" y="0"/>
                  </a:cubicBezTo>
                  <a:cubicBezTo>
                    <a:pt x="212852" y="0"/>
                    <a:pt x="274320" y="61468"/>
                    <a:pt x="274320" y="137160"/>
                  </a:cubicBezTo>
                  <a:cubicBezTo>
                    <a:pt x="274320" y="212852"/>
                    <a:pt x="212852" y="274320"/>
                    <a:pt x="137160" y="274320"/>
                  </a:cubicBezTo>
                  <a:cubicBezTo>
                    <a:pt x="61468" y="274320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6E86A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475970" y="2434590"/>
            <a:ext cx="205740" cy="205740"/>
            <a:chOff x="0" y="0"/>
            <a:chExt cx="274320" cy="274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137160"/>
                  </a:moveTo>
                  <a:cubicBezTo>
                    <a:pt x="0" y="61468"/>
                    <a:pt x="61468" y="0"/>
                    <a:pt x="137160" y="0"/>
                  </a:cubicBezTo>
                  <a:cubicBezTo>
                    <a:pt x="212852" y="0"/>
                    <a:pt x="274320" y="61468"/>
                    <a:pt x="274320" y="137160"/>
                  </a:cubicBezTo>
                  <a:cubicBezTo>
                    <a:pt x="274320" y="212852"/>
                    <a:pt x="212852" y="274320"/>
                    <a:pt x="137160" y="274320"/>
                  </a:cubicBezTo>
                  <a:cubicBezTo>
                    <a:pt x="61468" y="274320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6E86A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427964" y="3758184"/>
            <a:ext cx="301752" cy="301752"/>
            <a:chOff x="0" y="0"/>
            <a:chExt cx="402336" cy="4023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475970" y="5177790"/>
            <a:ext cx="205740" cy="205740"/>
            <a:chOff x="0" y="0"/>
            <a:chExt cx="274320" cy="274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137160"/>
                  </a:moveTo>
                  <a:cubicBezTo>
                    <a:pt x="0" y="61468"/>
                    <a:pt x="61468" y="0"/>
                    <a:pt x="137160" y="0"/>
                  </a:cubicBezTo>
                  <a:cubicBezTo>
                    <a:pt x="212852" y="0"/>
                    <a:pt x="274320" y="61468"/>
                    <a:pt x="274320" y="137160"/>
                  </a:cubicBezTo>
                  <a:cubicBezTo>
                    <a:pt x="274320" y="212852"/>
                    <a:pt x="212852" y="274320"/>
                    <a:pt x="137160" y="274320"/>
                  </a:cubicBezTo>
                  <a:cubicBezTo>
                    <a:pt x="61468" y="274320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6E86A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427964" y="6501384"/>
            <a:ext cx="301752" cy="301752"/>
            <a:chOff x="0" y="0"/>
            <a:chExt cx="402336" cy="4023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799564" y="2386584"/>
            <a:ext cx="301752" cy="301752"/>
            <a:chOff x="0" y="0"/>
            <a:chExt cx="402336" cy="4023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847570" y="3806190"/>
            <a:ext cx="205740" cy="205740"/>
            <a:chOff x="0" y="0"/>
            <a:chExt cx="274320" cy="2743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137160"/>
                  </a:moveTo>
                  <a:cubicBezTo>
                    <a:pt x="0" y="61468"/>
                    <a:pt x="61468" y="0"/>
                    <a:pt x="137160" y="0"/>
                  </a:cubicBezTo>
                  <a:cubicBezTo>
                    <a:pt x="212852" y="0"/>
                    <a:pt x="274320" y="61468"/>
                    <a:pt x="274320" y="137160"/>
                  </a:cubicBezTo>
                  <a:cubicBezTo>
                    <a:pt x="274320" y="212852"/>
                    <a:pt x="212852" y="274320"/>
                    <a:pt x="137160" y="274320"/>
                  </a:cubicBezTo>
                  <a:cubicBezTo>
                    <a:pt x="61468" y="274320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6E86A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799564" y="5129784"/>
            <a:ext cx="301752" cy="301752"/>
            <a:chOff x="0" y="0"/>
            <a:chExt cx="402336" cy="4023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847570" y="6549390"/>
            <a:ext cx="205740" cy="205740"/>
            <a:chOff x="0" y="0"/>
            <a:chExt cx="274320" cy="2743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137160"/>
                  </a:moveTo>
                  <a:cubicBezTo>
                    <a:pt x="0" y="61468"/>
                    <a:pt x="61468" y="0"/>
                    <a:pt x="137160" y="0"/>
                  </a:cubicBezTo>
                  <a:cubicBezTo>
                    <a:pt x="212852" y="0"/>
                    <a:pt x="274320" y="61468"/>
                    <a:pt x="274320" y="137160"/>
                  </a:cubicBezTo>
                  <a:cubicBezTo>
                    <a:pt x="274320" y="212852"/>
                    <a:pt x="212852" y="274320"/>
                    <a:pt x="137160" y="274320"/>
                  </a:cubicBezTo>
                  <a:cubicBezTo>
                    <a:pt x="61468" y="274320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6E86A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219170" y="2434590"/>
            <a:ext cx="205740" cy="205740"/>
            <a:chOff x="0" y="0"/>
            <a:chExt cx="274320" cy="2743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137160"/>
                  </a:moveTo>
                  <a:cubicBezTo>
                    <a:pt x="0" y="61468"/>
                    <a:pt x="61468" y="0"/>
                    <a:pt x="137160" y="0"/>
                  </a:cubicBezTo>
                  <a:cubicBezTo>
                    <a:pt x="212852" y="0"/>
                    <a:pt x="274320" y="61468"/>
                    <a:pt x="274320" y="137160"/>
                  </a:cubicBezTo>
                  <a:cubicBezTo>
                    <a:pt x="274320" y="212852"/>
                    <a:pt x="212852" y="274320"/>
                    <a:pt x="137160" y="274320"/>
                  </a:cubicBezTo>
                  <a:cubicBezTo>
                    <a:pt x="61468" y="274320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6E86A6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171164" y="3758184"/>
            <a:ext cx="301752" cy="301752"/>
            <a:chOff x="0" y="0"/>
            <a:chExt cx="402336" cy="4023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219170" y="5177790"/>
            <a:ext cx="205740" cy="205740"/>
            <a:chOff x="0" y="0"/>
            <a:chExt cx="274320" cy="2743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74320" cy="274320"/>
            </a:xfrm>
            <a:custGeom>
              <a:avLst/>
              <a:gdLst/>
              <a:ahLst/>
              <a:cxnLst/>
              <a:rect r="r" b="b" t="t" l="l"/>
              <a:pathLst>
                <a:path h="274320" w="274320">
                  <a:moveTo>
                    <a:pt x="0" y="137160"/>
                  </a:moveTo>
                  <a:cubicBezTo>
                    <a:pt x="0" y="61468"/>
                    <a:pt x="61468" y="0"/>
                    <a:pt x="137160" y="0"/>
                  </a:cubicBezTo>
                  <a:cubicBezTo>
                    <a:pt x="212852" y="0"/>
                    <a:pt x="274320" y="61468"/>
                    <a:pt x="274320" y="137160"/>
                  </a:cubicBezTo>
                  <a:cubicBezTo>
                    <a:pt x="274320" y="212852"/>
                    <a:pt x="212852" y="274320"/>
                    <a:pt x="137160" y="274320"/>
                  </a:cubicBezTo>
                  <a:cubicBezTo>
                    <a:pt x="61468" y="274320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6E86A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171164" y="6501384"/>
            <a:ext cx="301752" cy="301752"/>
            <a:chOff x="0" y="0"/>
            <a:chExt cx="402336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201168"/>
                  </a:moveTo>
                  <a:cubicBezTo>
                    <a:pt x="0" y="90043"/>
                    <a:pt x="90043" y="0"/>
                    <a:pt x="201168" y="0"/>
                  </a:cubicBezTo>
                  <a:cubicBezTo>
                    <a:pt x="312293" y="0"/>
                    <a:pt x="402336" y="90043"/>
                    <a:pt x="402336" y="201168"/>
                  </a:cubicBezTo>
                  <a:cubicBezTo>
                    <a:pt x="402336" y="312293"/>
                    <a:pt x="312293" y="402336"/>
                    <a:pt x="201168" y="402336"/>
                  </a:cubicBezTo>
                  <a:cubicBezTo>
                    <a:pt x="90043" y="402336"/>
                    <a:pt x="0" y="312293"/>
                    <a:pt x="0" y="201168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234440" y="2861310"/>
            <a:ext cx="1014984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Chat to Agents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34440" y="4263390"/>
            <a:ext cx="9875520" cy="129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Using AI agents in computational materials science</a:t>
            </a:r>
          </a:p>
        </p:txBody>
      </p:sp>
      <p:sp>
        <p:nvSpPr>
          <p:cNvPr name="AutoShape 60" id="60"/>
          <p:cNvSpPr/>
          <p:nvPr/>
        </p:nvSpPr>
        <p:spPr>
          <a:xfrm rot="42840">
            <a:off x="1242708" y="5751195"/>
            <a:ext cx="3055858" cy="0"/>
          </a:xfrm>
          <a:prstGeom prst="line">
            <a:avLst/>
          </a:prstGeom>
          <a:ln cap="rnd" w="19050">
            <a:solidFill>
              <a:srgbClr val="3E5A7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540" y="492633"/>
            <a:ext cx="150876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b="true" sz="1650" spc="299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WHERE WE 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540" y="895731"/>
            <a:ext cx="164592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You already use the model. You are not using the loop.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2015" y="2527935"/>
            <a:ext cx="7905750" cy="5436870"/>
            <a:chOff x="0" y="0"/>
            <a:chExt cx="10541000" cy="7249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41000" cy="7249160"/>
            </a:xfrm>
            <a:custGeom>
              <a:avLst/>
              <a:gdLst/>
              <a:ahLst/>
              <a:cxnLst/>
              <a:rect r="r" b="b" t="t" l="l"/>
              <a:pathLst>
                <a:path h="7249160" w="105410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394188" y="0"/>
                  </a:lnTo>
                  <a:cubicBezTo>
                    <a:pt x="10475214" y="0"/>
                    <a:pt x="10541000" y="65786"/>
                    <a:pt x="10541000" y="146812"/>
                  </a:cubicBezTo>
                  <a:lnTo>
                    <a:pt x="10541000" y="7102348"/>
                  </a:lnTo>
                  <a:cubicBezTo>
                    <a:pt x="10541000" y="7183374"/>
                    <a:pt x="10475214" y="7249160"/>
                    <a:pt x="10394188" y="7249160"/>
                  </a:cubicBezTo>
                  <a:lnTo>
                    <a:pt x="146812" y="7249160"/>
                  </a:lnTo>
                  <a:cubicBezTo>
                    <a:pt x="65786" y="7249160"/>
                    <a:pt x="0" y="7183374"/>
                    <a:pt x="0" y="7102348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40180" y="2929890"/>
            <a:ext cx="6858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6171"/>
                </a:solidFill>
                <a:latin typeface="Cambria"/>
                <a:ea typeface="Cambria"/>
                <a:cs typeface="Cambria"/>
                <a:sym typeface="Cambria"/>
              </a:rPr>
              <a:t>What you do today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0180" y="3745230"/>
            <a:ext cx="6858000" cy="407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Paste an OUTCAR snippet, ask why it didn't converge</a:t>
            </a:r>
          </a:p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Ask for a Python snippet, copy it into your script</a:t>
            </a:r>
          </a:p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Ask it to explain a paper's methodology</a:t>
            </a:r>
          </a:p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You are the hands: you run, read, decide, re-ask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17355" y="2527935"/>
            <a:ext cx="7905750" cy="5436870"/>
            <a:chOff x="0" y="0"/>
            <a:chExt cx="10541000" cy="7249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7249160"/>
            </a:xfrm>
            <a:custGeom>
              <a:avLst/>
              <a:gdLst/>
              <a:ahLst/>
              <a:cxnLst/>
              <a:rect r="r" b="b" t="t" l="l"/>
              <a:pathLst>
                <a:path h="7249160" w="1054100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394188" y="0"/>
                  </a:lnTo>
                  <a:cubicBezTo>
                    <a:pt x="10475214" y="0"/>
                    <a:pt x="10541000" y="65786"/>
                    <a:pt x="10541000" y="146812"/>
                  </a:cubicBezTo>
                  <a:lnTo>
                    <a:pt x="10541000" y="7102348"/>
                  </a:lnTo>
                  <a:cubicBezTo>
                    <a:pt x="10541000" y="7183374"/>
                    <a:pt x="10475214" y="7249160"/>
                    <a:pt x="10394188" y="7249160"/>
                  </a:cubicBezTo>
                  <a:lnTo>
                    <a:pt x="146812" y="7249160"/>
                  </a:lnTo>
                  <a:cubicBezTo>
                    <a:pt x="65786" y="7249160"/>
                    <a:pt x="0" y="7183374"/>
                    <a:pt x="0" y="7102348"/>
                  </a:cubicBezTo>
                  <a:close/>
                </a:path>
              </a:pathLst>
            </a:custGeom>
            <a:solidFill>
              <a:srgbClr val="FDF3E8"/>
            </a:solidFill>
            <a:ln w="19050" cap="sq">
              <a:solidFill>
                <a:srgbClr val="FDF3E8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875520" y="2929890"/>
            <a:ext cx="6858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E08A3C"/>
                </a:solidFill>
                <a:latin typeface="Cambria"/>
                <a:ea typeface="Cambria"/>
                <a:cs typeface="Cambria"/>
                <a:sym typeface="Cambria"/>
              </a:rPr>
              <a:t>What an agent adds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75520" y="3745230"/>
            <a:ext cx="6858000" cy="407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It opens the OUTCAR itself — all 40 000 lines</a:t>
            </a:r>
          </a:p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It writes the script, runs it, reads the traceback, fixes it</a:t>
            </a:r>
          </a:p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It queries a database and builds the input file</a:t>
            </a:r>
          </a:p>
          <a:p>
            <a:pPr algn="l" marL="407194" indent="-203597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It keeps going until the goal is met — or you stop 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1540" y="8378190"/>
            <a:ext cx="1645920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The model is the same. What changed is that it was given hands — and a loop.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540" y="492633"/>
            <a:ext cx="150876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b="true" sz="1650" spc="299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540" y="895731"/>
            <a:ext cx="164592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An agent, in one sentence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2015" y="2459355"/>
            <a:ext cx="16519398" cy="2076450"/>
            <a:chOff x="0" y="0"/>
            <a:chExt cx="22025864" cy="276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25863" cy="2768600"/>
            </a:xfrm>
            <a:custGeom>
              <a:avLst/>
              <a:gdLst/>
              <a:ahLst/>
              <a:cxnLst/>
              <a:rect r="r" b="b" t="t" l="l"/>
              <a:pathLst>
                <a:path h="2768600" w="22025863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21878162" y="0"/>
                  </a:lnTo>
                  <a:cubicBezTo>
                    <a:pt x="21959697" y="0"/>
                    <a:pt x="22025863" y="66167"/>
                    <a:pt x="22025863" y="147701"/>
                  </a:cubicBezTo>
                  <a:lnTo>
                    <a:pt x="22025863" y="2620899"/>
                  </a:lnTo>
                  <a:cubicBezTo>
                    <a:pt x="22025863" y="2702433"/>
                    <a:pt x="21959697" y="2768600"/>
                    <a:pt x="21878162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12233F"/>
            </a:solidFill>
            <a:ln w="19050" cap="sq">
              <a:solidFill>
                <a:srgbClr val="12233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440180" y="2674620"/>
            <a:ext cx="15361920" cy="1645920"/>
            <a:chOff x="0" y="0"/>
            <a:chExt cx="2048256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82561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2194560"/>
                  </a:lnTo>
                  <a:lnTo>
                    <a:pt x="0" y="2194560"/>
                  </a:lnTo>
                  <a:close/>
                </a:path>
              </a:pathLst>
            </a:custGeom>
            <a:noFill/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20482560" cy="2289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3300">
                  <a:solidFill>
                    <a:srgbClr val="C9D6E3"/>
                  </a:solidFill>
                  <a:latin typeface="Cambria"/>
                  <a:ea typeface="Cambria"/>
                  <a:cs typeface="Cambria"/>
                  <a:sym typeface="Cambria"/>
                </a:rPr>
                <a:t>A language model that can </a:t>
              </a:r>
              <a:r>
                <a:rPr lang="en-US" sz="3300" b="true">
                  <a:solidFill>
                    <a:srgbClr val="E08A3C"/>
                  </a:solidFill>
                  <a:latin typeface="Cambria"/>
                  <a:ea typeface="Cambria"/>
                  <a:cs typeface="Cambria"/>
                  <a:sym typeface="Cambria"/>
                </a:rPr>
                <a:t>call tools</a:t>
              </a:r>
              <a:r>
                <a:rPr lang="en-US" sz="3300">
                  <a:solidFill>
                    <a:srgbClr val="C9D6E3"/>
                  </a:solidFill>
                  <a:latin typeface="Cambria"/>
                  <a:ea typeface="Cambria"/>
                  <a:cs typeface="Cambria"/>
                  <a:sym typeface="Cambria"/>
                </a:rPr>
                <a:t>, </a:t>
              </a:r>
              <a:r>
                <a:rPr lang="en-US" sz="3300" b="true">
                  <a:solidFill>
                    <a:srgbClr val="E08A3C"/>
                  </a:solidFill>
                  <a:latin typeface="Cambria"/>
                  <a:ea typeface="Cambria"/>
                  <a:cs typeface="Cambria"/>
                  <a:sym typeface="Cambria"/>
                </a:rPr>
                <a:t>see the results</a:t>
              </a:r>
              <a:r>
                <a:rPr lang="en-US" sz="3300">
                  <a:solidFill>
                    <a:srgbClr val="C9D6E3"/>
                  </a:solidFill>
                  <a:latin typeface="Cambria"/>
                  <a:ea typeface="Cambria"/>
                  <a:cs typeface="Cambria"/>
                  <a:sym typeface="Cambria"/>
                </a:rPr>
                <a:t>, and </a:t>
              </a:r>
              <a:r>
                <a:rPr lang="en-US" sz="3300" b="true">
                  <a:solidFill>
                    <a:srgbClr val="E08A3C"/>
                  </a:solidFill>
                  <a:latin typeface="Cambria"/>
                  <a:ea typeface="Cambria"/>
                  <a:cs typeface="Cambria"/>
                  <a:sym typeface="Cambria"/>
                </a:rPr>
                <a:t>decide what to do next</a:t>
              </a:r>
              <a:r>
                <a:rPr lang="en-US" sz="3300">
                  <a:solidFill>
                    <a:srgbClr val="C9D6E3"/>
                  </a:solidFill>
                  <a:latin typeface="Cambria"/>
                  <a:ea typeface="Cambria"/>
                  <a:cs typeface="Cambria"/>
                  <a:sym typeface="Cambria"/>
                </a:rPr>
                <a:t> — in a loop, until a goal is reached.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015" y="4859655"/>
            <a:ext cx="3941826" cy="3653790"/>
            <a:chOff x="0" y="0"/>
            <a:chExt cx="5255768" cy="4871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55768" cy="4871720"/>
            </a:xfrm>
            <a:custGeom>
              <a:avLst/>
              <a:gdLst/>
              <a:ahLst/>
              <a:cxnLst/>
              <a:rect r="r" b="b" t="t" l="l"/>
              <a:pathLst>
                <a:path h="4871720" w="5255768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108702" y="0"/>
                  </a:lnTo>
                  <a:cubicBezTo>
                    <a:pt x="5189982" y="0"/>
                    <a:pt x="5255768" y="65786"/>
                    <a:pt x="5255768" y="147066"/>
                  </a:cubicBezTo>
                  <a:lnTo>
                    <a:pt x="5255768" y="4724654"/>
                  </a:lnTo>
                  <a:cubicBezTo>
                    <a:pt x="5255768" y="4805934"/>
                    <a:pt x="5189982" y="4871720"/>
                    <a:pt x="5108702" y="4871720"/>
                  </a:cubicBezTo>
                  <a:lnTo>
                    <a:pt x="147066" y="4871720"/>
                  </a:lnTo>
                  <a:cubicBezTo>
                    <a:pt x="65786" y="4871720"/>
                    <a:pt x="0" y="4805934"/>
                    <a:pt x="0" y="4724654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03020" y="5280660"/>
            <a:ext cx="685800" cy="685800"/>
            <a:chOff x="0" y="0"/>
            <a:chExt cx="914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020" y="528066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03020" y="6162675"/>
            <a:ext cx="315468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The model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3020" y="6663690"/>
            <a:ext cx="315468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Reasons about what to do. Interchangeable — Claude, GPT, Gemini, a local Llama.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06543" y="4859655"/>
            <a:ext cx="3941826" cy="3653790"/>
            <a:chOff x="0" y="0"/>
            <a:chExt cx="5255768" cy="4871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55768" cy="4871720"/>
            </a:xfrm>
            <a:custGeom>
              <a:avLst/>
              <a:gdLst/>
              <a:ahLst/>
              <a:cxnLst/>
              <a:rect r="r" b="b" t="t" l="l"/>
              <a:pathLst>
                <a:path h="4871720" w="5255768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108702" y="0"/>
                  </a:lnTo>
                  <a:cubicBezTo>
                    <a:pt x="5189982" y="0"/>
                    <a:pt x="5255768" y="65786"/>
                    <a:pt x="5255768" y="147066"/>
                  </a:cubicBezTo>
                  <a:lnTo>
                    <a:pt x="5255768" y="4724654"/>
                  </a:lnTo>
                  <a:cubicBezTo>
                    <a:pt x="5255768" y="4805934"/>
                    <a:pt x="5189982" y="4871720"/>
                    <a:pt x="5108702" y="4871720"/>
                  </a:cubicBezTo>
                  <a:lnTo>
                    <a:pt x="147066" y="4871720"/>
                  </a:lnTo>
                  <a:cubicBezTo>
                    <a:pt x="65786" y="4871720"/>
                    <a:pt x="0" y="4805934"/>
                    <a:pt x="0" y="4724654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527548" y="5280660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527548" y="5280660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527548" y="6162675"/>
            <a:ext cx="315468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The tools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27548" y="6663690"/>
            <a:ext cx="315468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Read a file, run a shell command, query an API, execute Python. Ordinary functions.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31071" y="4859655"/>
            <a:ext cx="3941826" cy="3653790"/>
            <a:chOff x="0" y="0"/>
            <a:chExt cx="5255768" cy="4871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55768" cy="4871720"/>
            </a:xfrm>
            <a:custGeom>
              <a:avLst/>
              <a:gdLst/>
              <a:ahLst/>
              <a:cxnLst/>
              <a:rect r="r" b="b" t="t" l="l"/>
              <a:pathLst>
                <a:path h="4871720" w="5255768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108702" y="0"/>
                  </a:lnTo>
                  <a:cubicBezTo>
                    <a:pt x="5189982" y="0"/>
                    <a:pt x="5255768" y="65786"/>
                    <a:pt x="5255768" y="147066"/>
                  </a:cubicBezTo>
                  <a:lnTo>
                    <a:pt x="5255768" y="4724654"/>
                  </a:lnTo>
                  <a:cubicBezTo>
                    <a:pt x="5255768" y="4805934"/>
                    <a:pt x="5189982" y="4871720"/>
                    <a:pt x="5108702" y="4871720"/>
                  </a:cubicBezTo>
                  <a:lnTo>
                    <a:pt x="147066" y="4871720"/>
                  </a:lnTo>
                  <a:cubicBezTo>
                    <a:pt x="65786" y="4871720"/>
                    <a:pt x="0" y="4805934"/>
                    <a:pt x="0" y="4724654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752076" y="5280660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752076" y="5280660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752076" y="6162675"/>
            <a:ext cx="315468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The loop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52076" y="6663690"/>
            <a:ext cx="315468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Act → observe the real output → re-plan. This is where the leverage is.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555599" y="4859655"/>
            <a:ext cx="3941826" cy="3653790"/>
            <a:chOff x="0" y="0"/>
            <a:chExt cx="5255768" cy="4871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55768" cy="4871720"/>
            </a:xfrm>
            <a:custGeom>
              <a:avLst/>
              <a:gdLst/>
              <a:ahLst/>
              <a:cxnLst/>
              <a:rect r="r" b="b" t="t" l="l"/>
              <a:pathLst>
                <a:path h="4871720" w="5255768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5108702" y="0"/>
                  </a:lnTo>
                  <a:cubicBezTo>
                    <a:pt x="5189982" y="0"/>
                    <a:pt x="5255768" y="65786"/>
                    <a:pt x="5255768" y="147066"/>
                  </a:cubicBezTo>
                  <a:lnTo>
                    <a:pt x="5255768" y="4724654"/>
                  </a:lnTo>
                  <a:cubicBezTo>
                    <a:pt x="5255768" y="4805934"/>
                    <a:pt x="5189982" y="4871720"/>
                    <a:pt x="5108702" y="4871720"/>
                  </a:cubicBezTo>
                  <a:lnTo>
                    <a:pt x="147066" y="4871720"/>
                  </a:lnTo>
                  <a:cubicBezTo>
                    <a:pt x="65786" y="4871720"/>
                    <a:pt x="0" y="4805934"/>
                    <a:pt x="0" y="4724654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976604" y="528066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976604" y="5280660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976604" y="6162675"/>
            <a:ext cx="315468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The leash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976604" y="6663690"/>
            <a:ext cx="315468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Permissions, scope, and you approving actions. Not optional.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540" y="492633"/>
            <a:ext cx="150876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b="true" sz="1650" spc="299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HOW IT ACTUALLY WORKS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540" y="895731"/>
            <a:ext cx="164592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The loop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0323" y="3145155"/>
            <a:ext cx="3653790" cy="2762250"/>
            <a:chOff x="0" y="0"/>
            <a:chExt cx="4871720" cy="368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1720" cy="3683000"/>
            </a:xfrm>
            <a:custGeom>
              <a:avLst/>
              <a:gdLst/>
              <a:ahLst/>
              <a:cxnLst/>
              <a:rect r="r" b="b" t="t" l="l"/>
              <a:pathLst>
                <a:path h="3683000" w="487172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724400" y="0"/>
                  </a:lnTo>
                  <a:cubicBezTo>
                    <a:pt x="4805807" y="0"/>
                    <a:pt x="4871720" y="65913"/>
                    <a:pt x="4871720" y="147320"/>
                  </a:cubicBezTo>
                  <a:lnTo>
                    <a:pt x="4871720" y="3535680"/>
                  </a:lnTo>
                  <a:cubicBezTo>
                    <a:pt x="4871720" y="3617087"/>
                    <a:pt x="4805807" y="3683000"/>
                    <a:pt x="4724400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544318" y="3497580"/>
            <a:ext cx="685800" cy="685800"/>
            <a:chOff x="0" y="0"/>
            <a:chExt cx="9144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44318" y="349758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69848" y="4311015"/>
            <a:ext cx="36347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Goal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5588" y="4789932"/>
            <a:ext cx="322326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You state what</a:t>
            </a:r>
          </a:p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you want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28032" y="4293108"/>
            <a:ext cx="452628" cy="411480"/>
            <a:chOff x="0" y="0"/>
            <a:chExt cx="603504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504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">
                  <a:moveTo>
                    <a:pt x="0" y="137160"/>
                  </a:moveTo>
                  <a:lnTo>
                    <a:pt x="329184" y="137160"/>
                  </a:lnTo>
                  <a:lnTo>
                    <a:pt x="329184" y="0"/>
                  </a:lnTo>
                  <a:lnTo>
                    <a:pt x="603504" y="274320"/>
                  </a:lnTo>
                  <a:lnTo>
                    <a:pt x="329184" y="548640"/>
                  </a:lnTo>
                  <a:lnTo>
                    <a:pt x="329184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B8C4D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380863" y="3145155"/>
            <a:ext cx="3653790" cy="2762250"/>
            <a:chOff x="0" y="0"/>
            <a:chExt cx="4871720" cy="368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71720" cy="3683000"/>
            </a:xfrm>
            <a:custGeom>
              <a:avLst/>
              <a:gdLst/>
              <a:ahLst/>
              <a:cxnLst/>
              <a:rect r="r" b="b" t="t" l="l"/>
              <a:pathLst>
                <a:path h="3683000" w="487172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724400" y="0"/>
                  </a:lnTo>
                  <a:cubicBezTo>
                    <a:pt x="4805807" y="0"/>
                    <a:pt x="4871720" y="65913"/>
                    <a:pt x="4871720" y="147320"/>
                  </a:cubicBezTo>
                  <a:lnTo>
                    <a:pt x="4871720" y="3535680"/>
                  </a:lnTo>
                  <a:cubicBezTo>
                    <a:pt x="4871720" y="3617087"/>
                    <a:pt x="4805807" y="3683000"/>
                    <a:pt x="4724400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864858" y="3497580"/>
            <a:ext cx="685800" cy="685800"/>
            <a:chOff x="0" y="0"/>
            <a:chExt cx="9144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864858" y="3497580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5390388" y="4311015"/>
            <a:ext cx="36347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Plan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96128" y="4789932"/>
            <a:ext cx="322326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Model picks the</a:t>
            </a:r>
          </a:p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next action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8572" y="4293108"/>
            <a:ext cx="452628" cy="411480"/>
            <a:chOff x="0" y="0"/>
            <a:chExt cx="603504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3504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">
                  <a:moveTo>
                    <a:pt x="0" y="137160"/>
                  </a:moveTo>
                  <a:lnTo>
                    <a:pt x="329184" y="137160"/>
                  </a:lnTo>
                  <a:lnTo>
                    <a:pt x="329184" y="0"/>
                  </a:lnTo>
                  <a:lnTo>
                    <a:pt x="603504" y="274320"/>
                  </a:lnTo>
                  <a:lnTo>
                    <a:pt x="329184" y="548640"/>
                  </a:lnTo>
                  <a:lnTo>
                    <a:pt x="329184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B8C4D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701403" y="3145155"/>
            <a:ext cx="3653790" cy="2762250"/>
            <a:chOff x="0" y="0"/>
            <a:chExt cx="4871720" cy="368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71720" cy="3683000"/>
            </a:xfrm>
            <a:custGeom>
              <a:avLst/>
              <a:gdLst/>
              <a:ahLst/>
              <a:cxnLst/>
              <a:rect r="r" b="b" t="t" l="l"/>
              <a:pathLst>
                <a:path h="3683000" w="487172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724400" y="0"/>
                  </a:lnTo>
                  <a:cubicBezTo>
                    <a:pt x="4805807" y="0"/>
                    <a:pt x="4871720" y="65913"/>
                    <a:pt x="4871720" y="147320"/>
                  </a:cubicBezTo>
                  <a:lnTo>
                    <a:pt x="4871720" y="3535680"/>
                  </a:lnTo>
                  <a:cubicBezTo>
                    <a:pt x="4871720" y="3617087"/>
                    <a:pt x="4805807" y="3683000"/>
                    <a:pt x="4724400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185398" y="3497580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185398" y="3497580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710928" y="4311015"/>
            <a:ext cx="36347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16668" y="4789932"/>
            <a:ext cx="322326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Calls a tool:</a:t>
            </a:r>
          </a:p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read / run / query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469112" y="4293108"/>
            <a:ext cx="452628" cy="411480"/>
            <a:chOff x="0" y="0"/>
            <a:chExt cx="603504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3504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">
                  <a:moveTo>
                    <a:pt x="0" y="137160"/>
                  </a:moveTo>
                  <a:lnTo>
                    <a:pt x="329184" y="137160"/>
                  </a:lnTo>
                  <a:lnTo>
                    <a:pt x="329184" y="0"/>
                  </a:lnTo>
                  <a:lnTo>
                    <a:pt x="603504" y="274320"/>
                  </a:lnTo>
                  <a:lnTo>
                    <a:pt x="329184" y="548640"/>
                  </a:lnTo>
                  <a:lnTo>
                    <a:pt x="329184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B8C4D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021943" y="3145155"/>
            <a:ext cx="3653790" cy="2762250"/>
            <a:chOff x="0" y="0"/>
            <a:chExt cx="4871720" cy="3683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71720" cy="3683000"/>
            </a:xfrm>
            <a:custGeom>
              <a:avLst/>
              <a:gdLst/>
              <a:ahLst/>
              <a:cxnLst/>
              <a:rect r="r" b="b" t="t" l="l"/>
              <a:pathLst>
                <a:path h="3683000" w="487172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4724400" y="0"/>
                  </a:lnTo>
                  <a:cubicBezTo>
                    <a:pt x="4805807" y="0"/>
                    <a:pt x="4871720" y="65913"/>
                    <a:pt x="4871720" y="147320"/>
                  </a:cubicBezTo>
                  <a:lnTo>
                    <a:pt x="4871720" y="3535680"/>
                  </a:lnTo>
                  <a:cubicBezTo>
                    <a:pt x="4871720" y="3617087"/>
                    <a:pt x="4805807" y="3683000"/>
                    <a:pt x="4724400" y="3683000"/>
                  </a:cubicBezTo>
                  <a:lnTo>
                    <a:pt x="147320" y="3683000"/>
                  </a:lnTo>
                  <a:cubicBezTo>
                    <a:pt x="65913" y="3683000"/>
                    <a:pt x="0" y="3617087"/>
                    <a:pt x="0" y="3535680"/>
                  </a:cubicBezTo>
                  <a:close/>
                </a:path>
              </a:pathLst>
            </a:custGeom>
            <a:solidFill>
              <a:srgbClr val="FDF3E8"/>
            </a:solidFill>
            <a:ln w="19050" cap="sq">
              <a:solidFill>
                <a:srgbClr val="FDF3E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5505938" y="3497580"/>
            <a:ext cx="685800" cy="685800"/>
            <a:chOff x="0" y="0"/>
            <a:chExt cx="91440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505938" y="3497580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4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4031468" y="4311015"/>
            <a:ext cx="363474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55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Observe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237208" y="4789932"/>
            <a:ext cx="322326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Real output comes</a:t>
            </a:r>
          </a:p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back to the model</a:t>
            </a:r>
          </a:p>
        </p:txBody>
      </p:sp>
      <p:sp>
        <p:nvSpPr>
          <p:cNvPr name="AutoShape 46" id="46"/>
          <p:cNvSpPr/>
          <p:nvPr/>
        </p:nvSpPr>
        <p:spPr>
          <a:xfrm rot="5235180">
            <a:off x="16327526" y="6313551"/>
            <a:ext cx="894283" cy="0"/>
          </a:xfrm>
          <a:prstGeom prst="line">
            <a:avLst/>
          </a:prstGeom>
          <a:ln cap="rnd" w="19050">
            <a:solidFill>
              <a:srgbClr val="E08A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rot="10560">
            <a:off x="2858900" y="6738747"/>
            <a:ext cx="13937237" cy="0"/>
          </a:xfrm>
          <a:prstGeom prst="line">
            <a:avLst/>
          </a:prstGeom>
          <a:ln cap="rnd" w="19050">
            <a:solidFill>
              <a:srgbClr val="E08A3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rot="5235180">
            <a:off x="2433218" y="6313551"/>
            <a:ext cx="894283" cy="0"/>
          </a:xfrm>
          <a:prstGeom prst="line">
            <a:avLst/>
          </a:prstGeom>
          <a:ln cap="rnd" w="19050">
            <a:solidFill>
              <a:srgbClr val="E08A3C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9" id="49"/>
          <p:cNvSpPr txBox="true"/>
          <p:nvPr/>
        </p:nvSpPr>
        <p:spPr>
          <a:xfrm rot="0">
            <a:off x="4389120" y="6782943"/>
            <a:ext cx="1097280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2350" i="tru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repeat — each pass is informed by what actually happened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69848" y="7663815"/>
            <a:ext cx="16184880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525" b="tru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Stopping condition: </a:t>
            </a:r>
            <a:r>
              <a:rPr lang="en-US" sz="2525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goal satisfied · budget exhausted · a permission you didn't grant · you interrupt it. </a:t>
            </a:r>
            <a:r>
              <a:rPr lang="en-US" sz="2525" b="true">
                <a:solidFill>
                  <a:srgbClr val="A4413C"/>
                </a:solidFill>
                <a:latin typeface="Calibri"/>
                <a:ea typeface="Calibri"/>
                <a:cs typeface="Calibri"/>
                <a:sym typeface="Calibri"/>
              </a:rPr>
              <a:t>An agent with no stopping condition is a bug, not a feature.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540" y="492633"/>
            <a:ext cx="150876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DEMYSTIFYING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540" y="895731"/>
            <a:ext cx="164592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What a tool call actually looks like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1540" y="2174367"/>
            <a:ext cx="1645920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There is no magic layer. The model emits structured text; your client runs a function and hands back the output.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2015" y="2939415"/>
            <a:ext cx="8042910" cy="3448050"/>
            <a:chOff x="0" y="0"/>
            <a:chExt cx="10723880" cy="4597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3880" cy="4597400"/>
            </a:xfrm>
            <a:custGeom>
              <a:avLst/>
              <a:gdLst/>
              <a:ahLst/>
              <a:cxnLst/>
              <a:rect r="r" b="b" t="t" l="l"/>
              <a:pathLst>
                <a:path h="4597400" w="1072388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10576814" y="0"/>
                  </a:lnTo>
                  <a:cubicBezTo>
                    <a:pt x="10658094" y="0"/>
                    <a:pt x="10723880" y="65913"/>
                    <a:pt x="10723880" y="147066"/>
                  </a:cubicBezTo>
                  <a:lnTo>
                    <a:pt x="10723880" y="4450334"/>
                  </a:lnTo>
                  <a:cubicBezTo>
                    <a:pt x="10723880" y="4531614"/>
                    <a:pt x="10657967" y="4597400"/>
                    <a:pt x="10576814" y="4597400"/>
                  </a:cubicBezTo>
                  <a:lnTo>
                    <a:pt x="147066" y="4597400"/>
                  </a:lnTo>
                  <a:cubicBezTo>
                    <a:pt x="65913" y="4597400"/>
                    <a:pt x="0" y="4531487"/>
                    <a:pt x="0" y="4450334"/>
                  </a:cubicBezTo>
                  <a:close/>
                </a:path>
              </a:pathLst>
            </a:custGeom>
            <a:solidFill>
              <a:srgbClr val="12233F"/>
            </a:solidFill>
            <a:ln w="19050" cap="sq">
              <a:solidFill>
                <a:srgbClr val="12233F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03020" y="3116580"/>
            <a:ext cx="5486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150" b="tru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① Model asks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3020" y="3574542"/>
            <a:ext cx="7269480" cy="2556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725">
                <a:solidFill>
                  <a:srgbClr val="C9D6E3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</a:p>
          <a:p>
            <a:pPr algn="l">
              <a:lnSpc>
                <a:spcPts val="2250"/>
              </a:lnSpc>
            </a:pPr>
            <a:r>
              <a:rPr lang="en-US" sz="1725">
                <a:solidFill>
                  <a:srgbClr val="C9D6E3"/>
                </a:solidFill>
                <a:latin typeface="Courier New"/>
                <a:ea typeface="Courier New"/>
                <a:cs typeface="Courier New"/>
                <a:sym typeface="Courier New"/>
              </a:rPr>
              <a:t>  "tool": "search",</a:t>
            </a:r>
          </a:p>
          <a:p>
            <a:pPr algn="l">
              <a:lnSpc>
                <a:spcPts val="2250"/>
              </a:lnSpc>
            </a:pPr>
            <a:r>
              <a:rPr lang="en-US" sz="1725">
                <a:solidFill>
                  <a:srgbClr val="C9D6E3"/>
                </a:solidFill>
                <a:latin typeface="Courier New"/>
                <a:ea typeface="Courier New"/>
                <a:cs typeface="Courier New"/>
                <a:sym typeface="Courier New"/>
              </a:rPr>
              <a:t>  "input": {</a:t>
            </a:r>
          </a:p>
          <a:p>
            <a:pPr algn="l">
              <a:lnSpc>
                <a:spcPts val="2250"/>
              </a:lnSpc>
            </a:pPr>
            <a:r>
              <a:rPr lang="en-US" sz="1725">
                <a:solidFill>
                  <a:srgbClr val="C9D6E3"/>
                </a:solidFill>
                <a:latin typeface="Courier New"/>
                <a:ea typeface="Courier New"/>
                <a:cs typeface="Courier New"/>
                <a:sym typeface="Courier New"/>
              </a:rPr>
              <a:t>    "chemsys": "La-Ni-O",</a:t>
            </a:r>
          </a:p>
          <a:p>
            <a:pPr algn="l">
              <a:lnSpc>
                <a:spcPts val="2250"/>
              </a:lnSpc>
            </a:pPr>
            <a:r>
              <a:rPr lang="en-US" sz="1725">
                <a:solidFill>
                  <a:srgbClr val="C9D6E3"/>
                </a:solidFill>
                <a:latin typeface="Courier New"/>
                <a:ea typeface="Courier New"/>
                <a:cs typeface="Courier New"/>
                <a:sym typeface="Courier New"/>
              </a:rPr>
              <a:t>    "fields": ["formula", "e_above_hull"]</a:t>
            </a:r>
          </a:p>
          <a:p>
            <a:pPr algn="l">
              <a:lnSpc>
                <a:spcPts val="2250"/>
              </a:lnSpc>
            </a:pPr>
            <a:r>
              <a:rPr lang="en-US" sz="1725">
                <a:solidFill>
                  <a:srgbClr val="C9D6E3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</a:p>
          <a:p>
            <a:pPr algn="l">
              <a:lnSpc>
                <a:spcPts val="2250"/>
              </a:lnSpc>
            </a:pPr>
            <a:r>
              <a:rPr lang="en-US" sz="1725">
                <a:solidFill>
                  <a:srgbClr val="C9D6E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79992" y="4389120"/>
            <a:ext cx="617220" cy="480060"/>
            <a:chOff x="0" y="0"/>
            <a:chExt cx="822960" cy="640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960" cy="640080"/>
            </a:xfrm>
            <a:custGeom>
              <a:avLst/>
              <a:gdLst/>
              <a:ahLst/>
              <a:cxnLst/>
              <a:rect r="r" b="b" t="t" l="l"/>
              <a:pathLst>
                <a:path h="640080" w="822960">
                  <a:moveTo>
                    <a:pt x="0" y="160020"/>
                  </a:moveTo>
                  <a:lnTo>
                    <a:pt x="502920" y="160020"/>
                  </a:lnTo>
                  <a:lnTo>
                    <a:pt x="502920" y="0"/>
                  </a:lnTo>
                  <a:lnTo>
                    <a:pt x="822960" y="320040"/>
                  </a:lnTo>
                  <a:lnTo>
                    <a:pt x="502920" y="640080"/>
                  </a:lnTo>
                  <a:lnTo>
                    <a:pt x="502920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65995" y="2939415"/>
            <a:ext cx="7535418" cy="3448050"/>
            <a:chOff x="0" y="0"/>
            <a:chExt cx="10047224" cy="4597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47224" cy="4597400"/>
            </a:xfrm>
            <a:custGeom>
              <a:avLst/>
              <a:gdLst/>
              <a:ahLst/>
              <a:cxnLst/>
              <a:rect r="r" b="b" t="t" l="l"/>
              <a:pathLst>
                <a:path h="4597400" w="10047224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9900158" y="0"/>
                  </a:lnTo>
                  <a:cubicBezTo>
                    <a:pt x="9981438" y="0"/>
                    <a:pt x="10047224" y="65913"/>
                    <a:pt x="10047224" y="147066"/>
                  </a:cubicBezTo>
                  <a:lnTo>
                    <a:pt x="10047224" y="4450334"/>
                  </a:lnTo>
                  <a:cubicBezTo>
                    <a:pt x="10047224" y="4531614"/>
                    <a:pt x="9981311" y="4597400"/>
                    <a:pt x="9900158" y="4597400"/>
                  </a:cubicBezTo>
                  <a:lnTo>
                    <a:pt x="147066" y="4597400"/>
                  </a:lnTo>
                  <a:cubicBezTo>
                    <a:pt x="65913" y="4597400"/>
                    <a:pt x="0" y="4531487"/>
                    <a:pt x="0" y="4450334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0" y="3116580"/>
            <a:ext cx="61722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150" b="true">
                <a:solidFill>
                  <a:srgbClr val="2E6171"/>
                </a:solidFill>
                <a:latin typeface="Calibri"/>
                <a:ea typeface="Calibri"/>
                <a:cs typeface="Calibri"/>
                <a:sym typeface="Calibri"/>
              </a:rPr>
              <a:t>② Your machine answers (illustrative values)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0" y="3545967"/>
            <a:ext cx="6858000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575">
                <a:solidFill>
                  <a:srgbClr val="1A2230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</a:p>
          <a:p>
            <a:pPr algn="l">
              <a:lnSpc>
                <a:spcPts val="2249"/>
              </a:lnSpc>
            </a:pPr>
            <a:r>
              <a:rPr lang="en-US" sz="1575">
                <a:solidFill>
                  <a:srgbClr val="1A2230"/>
                </a:solidFill>
                <a:latin typeface="Courier New"/>
                <a:ea typeface="Courier New"/>
                <a:cs typeface="Courier New"/>
                <a:sym typeface="Courier New"/>
              </a:rPr>
              <a:t>  {"formula": "La2NiO4",  "e_above_hull": 0.000},</a:t>
            </a:r>
          </a:p>
          <a:p>
            <a:pPr algn="l">
              <a:lnSpc>
                <a:spcPts val="2249"/>
              </a:lnSpc>
            </a:pPr>
            <a:r>
              <a:rPr lang="en-US" sz="1575">
                <a:solidFill>
                  <a:srgbClr val="1A2230"/>
                </a:solidFill>
                <a:latin typeface="Courier New"/>
                <a:ea typeface="Courier New"/>
                <a:cs typeface="Courier New"/>
                <a:sym typeface="Courier New"/>
              </a:rPr>
              <a:t>  {"formula": "La3Ni2O7", "e_above_hull": 0.012},</a:t>
            </a:r>
          </a:p>
          <a:p>
            <a:pPr algn="l">
              <a:lnSpc>
                <a:spcPts val="2249"/>
              </a:lnSpc>
            </a:pPr>
            <a:r>
              <a:rPr lang="en-US" sz="1575">
                <a:solidFill>
                  <a:srgbClr val="1A2230"/>
                </a:solidFill>
                <a:latin typeface="Courier New"/>
                <a:ea typeface="Courier New"/>
                <a:cs typeface="Courier New"/>
                <a:sym typeface="Courier New"/>
              </a:rPr>
              <a:t>  {"formula": "LaNiO3",   "e_above_hull": 0.000}</a:t>
            </a:r>
          </a:p>
          <a:p>
            <a:pPr algn="l">
              <a:lnSpc>
                <a:spcPts val="2249"/>
              </a:lnSpc>
            </a:pPr>
            <a:r>
              <a:rPr lang="en-US" sz="1575">
                <a:solidFill>
                  <a:srgbClr val="1A2230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2015" y="6779895"/>
            <a:ext cx="16519398" cy="1870710"/>
            <a:chOff x="0" y="0"/>
            <a:chExt cx="22025864" cy="2494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025865" cy="2494280"/>
            </a:xfrm>
            <a:custGeom>
              <a:avLst/>
              <a:gdLst/>
              <a:ahLst/>
              <a:cxnLst/>
              <a:rect r="r" b="b" t="t" l="l"/>
              <a:pathLst>
                <a:path h="2494280" w="22025865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21878037" y="0"/>
                  </a:lnTo>
                  <a:cubicBezTo>
                    <a:pt x="21959698" y="0"/>
                    <a:pt x="22025865" y="66167"/>
                    <a:pt x="22025865" y="147828"/>
                  </a:cubicBezTo>
                  <a:lnTo>
                    <a:pt x="22025865" y="2346452"/>
                  </a:lnTo>
                  <a:cubicBezTo>
                    <a:pt x="22025865" y="2428113"/>
                    <a:pt x="21959698" y="2494280"/>
                    <a:pt x="21878037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FDF3E8"/>
            </a:solidFill>
            <a:ln w="19050" cap="sq">
              <a:solidFill>
                <a:srgbClr val="FDF3E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71600" y="7063740"/>
            <a:ext cx="15499080" cy="1303020"/>
            <a:chOff x="0" y="0"/>
            <a:chExt cx="20665440" cy="1737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665439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737360"/>
                  </a:lnTo>
                  <a:lnTo>
                    <a:pt x="0" y="1737360"/>
                  </a:lnTo>
                  <a:close/>
                </a:path>
              </a:pathLst>
            </a:custGeom>
            <a:noFill/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20665440" cy="1832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75" b="true">
                  <a:solidFill>
                    <a:srgbClr val="E08A3C"/>
                  </a:solidFill>
                  <a:latin typeface="Calibri"/>
                  <a:ea typeface="Calibri"/>
                  <a:cs typeface="Calibri"/>
                  <a:sym typeface="Calibri"/>
                </a:rPr>
                <a:t>③  </a:t>
              </a:r>
              <a:r>
                <a:rPr lang="en-US" sz="217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The result is sent back to the model, and the model decides again — fetch the structure? build an input file? tell the user it found three phases? </a:t>
              </a:r>
              <a:r>
                <a:rPr lang="en-US" sz="2175" b="true">
                  <a:solidFill>
                    <a:srgbClr val="12233F"/>
                  </a:solidFill>
                  <a:latin typeface="Calibri"/>
                  <a:ea typeface="Calibri"/>
                  <a:cs typeface="Calibri"/>
                  <a:sym typeface="Calibri"/>
                </a:rPr>
                <a:t>That decision is the agent.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540" y="492633"/>
            <a:ext cx="150876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b="true" sz="1650" spc="299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PLUMBING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540" y="895731"/>
            <a:ext cx="164592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MCP: the reason this got easy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1540" y="2145792"/>
            <a:ext cx="164592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175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Model Context Protocol. Think of it as USB-C for tools: one standard plug. A database writes its connector once, and every agent can use it.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2015" y="3213735"/>
            <a:ext cx="4271010" cy="869442"/>
            <a:chOff x="0" y="0"/>
            <a:chExt cx="5694680" cy="11592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946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69468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5545074" y="0"/>
                  </a:lnTo>
                  <a:cubicBezTo>
                    <a:pt x="5627624" y="0"/>
                    <a:pt x="5694680" y="66929"/>
                    <a:pt x="5694680" y="149606"/>
                  </a:cubicBezTo>
                  <a:lnTo>
                    <a:pt x="5694680" y="1009650"/>
                  </a:lnTo>
                  <a:cubicBezTo>
                    <a:pt x="5694680" y="1092200"/>
                    <a:pt x="5627751" y="1159256"/>
                    <a:pt x="554507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91540" y="3223260"/>
            <a:ext cx="4251960" cy="850392"/>
            <a:chOff x="0" y="0"/>
            <a:chExt cx="5669280" cy="1133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692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133856"/>
                  </a:lnTo>
                  <a:lnTo>
                    <a:pt x="0" y="1133856"/>
                  </a:lnTo>
                  <a:close/>
                </a:path>
              </a:pathLst>
            </a:custGeom>
            <a:noFill/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66928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6"/>
                </a:lnSpc>
              </a:pPr>
              <a:r>
                <a:rPr lang="en-US" sz="2425" b="true">
                  <a:solidFill>
                    <a:srgbClr val="12233F"/>
                  </a:solidFill>
                  <a:latin typeface="Calibri"/>
                  <a:ea typeface="Calibri"/>
                  <a:cs typeface="Calibri"/>
                  <a:sym typeface="Calibri"/>
                </a:rPr>
                <a:t>Claude Code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2015" y="4283583"/>
            <a:ext cx="4271010" cy="869442"/>
            <a:chOff x="0" y="0"/>
            <a:chExt cx="5694680" cy="11592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946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69468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5545074" y="0"/>
                  </a:lnTo>
                  <a:cubicBezTo>
                    <a:pt x="5627624" y="0"/>
                    <a:pt x="5694680" y="66929"/>
                    <a:pt x="5694680" y="149606"/>
                  </a:cubicBezTo>
                  <a:lnTo>
                    <a:pt x="5694680" y="1009650"/>
                  </a:lnTo>
                  <a:cubicBezTo>
                    <a:pt x="5694680" y="1092200"/>
                    <a:pt x="5627751" y="1159256"/>
                    <a:pt x="554507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91540" y="4293108"/>
            <a:ext cx="4251960" cy="850392"/>
            <a:chOff x="0" y="0"/>
            <a:chExt cx="5669280" cy="11338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692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133856"/>
                  </a:lnTo>
                  <a:lnTo>
                    <a:pt x="0" y="1133856"/>
                  </a:lnTo>
                  <a:close/>
                </a:path>
              </a:pathLst>
            </a:custGeom>
            <a:noFill/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6928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6"/>
                </a:lnSpc>
              </a:pPr>
              <a:r>
                <a:rPr lang="en-US" sz="2425" b="true">
                  <a:solidFill>
                    <a:srgbClr val="12233F"/>
                  </a:solidFill>
                  <a:latin typeface="Calibri"/>
                  <a:ea typeface="Calibri"/>
                  <a:cs typeface="Calibri"/>
                  <a:sym typeface="Calibri"/>
                </a:rPr>
                <a:t>Gemini CLI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2015" y="5353431"/>
            <a:ext cx="4271010" cy="869442"/>
            <a:chOff x="0" y="0"/>
            <a:chExt cx="5694680" cy="1159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946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69468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5545074" y="0"/>
                  </a:lnTo>
                  <a:cubicBezTo>
                    <a:pt x="5627624" y="0"/>
                    <a:pt x="5694680" y="66929"/>
                    <a:pt x="5694680" y="149606"/>
                  </a:cubicBezTo>
                  <a:lnTo>
                    <a:pt x="5694680" y="1009650"/>
                  </a:lnTo>
                  <a:cubicBezTo>
                    <a:pt x="5694680" y="1092200"/>
                    <a:pt x="5627751" y="1159256"/>
                    <a:pt x="554507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91540" y="5362956"/>
            <a:ext cx="4251960" cy="850392"/>
            <a:chOff x="0" y="0"/>
            <a:chExt cx="5669280" cy="1133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692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133856"/>
                  </a:lnTo>
                  <a:lnTo>
                    <a:pt x="0" y="1133856"/>
                  </a:lnTo>
                  <a:close/>
                </a:path>
              </a:pathLst>
            </a:custGeom>
            <a:noFill/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66928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6"/>
                </a:lnSpc>
              </a:pPr>
              <a:r>
                <a:rPr lang="en-US" sz="2425" b="true">
                  <a:solidFill>
                    <a:srgbClr val="12233F"/>
                  </a:solidFill>
                  <a:latin typeface="Calibri"/>
                  <a:ea typeface="Calibri"/>
                  <a:cs typeface="Calibri"/>
                  <a:sym typeface="Calibri"/>
                </a:rPr>
                <a:t>Codex CLI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2015" y="6423279"/>
            <a:ext cx="4271010" cy="869442"/>
            <a:chOff x="0" y="0"/>
            <a:chExt cx="5694680" cy="11592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946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69468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5545074" y="0"/>
                  </a:lnTo>
                  <a:cubicBezTo>
                    <a:pt x="5627624" y="0"/>
                    <a:pt x="5694680" y="66929"/>
                    <a:pt x="5694680" y="149606"/>
                  </a:cubicBezTo>
                  <a:lnTo>
                    <a:pt x="5694680" y="1009650"/>
                  </a:lnTo>
                  <a:cubicBezTo>
                    <a:pt x="5694680" y="1092200"/>
                    <a:pt x="5627751" y="1159256"/>
                    <a:pt x="554507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91540" y="6432804"/>
            <a:ext cx="4251960" cy="850392"/>
            <a:chOff x="0" y="0"/>
            <a:chExt cx="5669280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692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133856"/>
                  </a:lnTo>
                  <a:lnTo>
                    <a:pt x="0" y="1133856"/>
                  </a:lnTo>
                  <a:close/>
                </a:path>
              </a:pathLst>
            </a:custGeom>
            <a:noFill/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66928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6"/>
                </a:lnSpc>
              </a:pPr>
              <a:r>
                <a:rPr lang="en-US" sz="2425" b="true">
                  <a:solidFill>
                    <a:srgbClr val="12233F"/>
                  </a:solidFill>
                  <a:latin typeface="Calibri"/>
                  <a:ea typeface="Calibri"/>
                  <a:cs typeface="Calibri"/>
                  <a:sym typeface="Calibri"/>
                </a:rPr>
                <a:t>Your own script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122795" y="3968115"/>
            <a:ext cx="3996690" cy="2556510"/>
            <a:chOff x="0" y="0"/>
            <a:chExt cx="5328920" cy="3408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28920" cy="3408680"/>
            </a:xfrm>
            <a:custGeom>
              <a:avLst/>
              <a:gdLst/>
              <a:ahLst/>
              <a:cxnLst/>
              <a:rect r="r" b="b" t="t" l="l"/>
              <a:pathLst>
                <a:path h="3408680" w="53289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181473" y="0"/>
                  </a:lnTo>
                  <a:cubicBezTo>
                    <a:pt x="5262880" y="0"/>
                    <a:pt x="5328920" y="66040"/>
                    <a:pt x="5328920" y="147447"/>
                  </a:cubicBezTo>
                  <a:lnTo>
                    <a:pt x="5328920" y="3261233"/>
                  </a:lnTo>
                  <a:cubicBezTo>
                    <a:pt x="5328920" y="3342640"/>
                    <a:pt x="5262880" y="3408680"/>
                    <a:pt x="5181473" y="3408680"/>
                  </a:cubicBezTo>
                  <a:lnTo>
                    <a:pt x="147447" y="3408680"/>
                  </a:lnTo>
                  <a:cubicBezTo>
                    <a:pt x="66040" y="3408680"/>
                    <a:pt x="0" y="3342640"/>
                    <a:pt x="0" y="3261233"/>
                  </a:cubicBezTo>
                  <a:close/>
                </a:path>
              </a:pathLst>
            </a:custGeom>
            <a:solidFill>
              <a:srgbClr val="12233F"/>
            </a:solidFill>
            <a:ln w="19050" cap="sq">
              <a:solidFill>
                <a:srgbClr val="12233F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7132320" y="4311015"/>
            <a:ext cx="397764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E08A3C"/>
                </a:solidFill>
                <a:latin typeface="Cambria"/>
                <a:ea typeface="Cambria"/>
                <a:cs typeface="Cambria"/>
                <a:sym typeface="Cambria"/>
              </a:rPr>
              <a:t>MCP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32320" y="5086350"/>
            <a:ext cx="397764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250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one protocol,</a:t>
            </a:r>
          </a:p>
          <a:p>
            <a:pPr algn="ctr">
              <a:lnSpc>
                <a:spcPts val="2880"/>
              </a:lnSpc>
            </a:pPr>
            <a:r>
              <a:rPr lang="en-US" sz="2250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both directions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130403" y="3213735"/>
            <a:ext cx="4271010" cy="869442"/>
            <a:chOff x="0" y="0"/>
            <a:chExt cx="5694680" cy="11592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946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69468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5545074" y="0"/>
                  </a:lnTo>
                  <a:cubicBezTo>
                    <a:pt x="5627624" y="0"/>
                    <a:pt x="5694680" y="66929"/>
                    <a:pt x="5694680" y="149606"/>
                  </a:cubicBezTo>
                  <a:lnTo>
                    <a:pt x="5694680" y="1009650"/>
                  </a:lnTo>
                  <a:cubicBezTo>
                    <a:pt x="5694680" y="1092200"/>
                    <a:pt x="5627751" y="1159256"/>
                    <a:pt x="554507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DF3E8"/>
            </a:solidFill>
            <a:ln w="19050" cap="sq">
              <a:solidFill>
                <a:srgbClr val="FDF3E8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139928" y="3223260"/>
            <a:ext cx="4251960" cy="850392"/>
            <a:chOff x="0" y="0"/>
            <a:chExt cx="5669280" cy="1133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6692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133856"/>
                  </a:lnTo>
                  <a:lnTo>
                    <a:pt x="0" y="1133856"/>
                  </a:lnTo>
                  <a:close/>
                </a:path>
              </a:pathLst>
            </a:custGeom>
            <a:noFill/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66928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6"/>
                </a:lnSpc>
              </a:pPr>
              <a:r>
                <a:rPr lang="en-US" sz="2425" b="true">
                  <a:solidFill>
                    <a:srgbClr val="2E6171"/>
                  </a:solidFill>
                  <a:latin typeface="Calibri"/>
                  <a:ea typeface="Calibri"/>
                  <a:cs typeface="Calibri"/>
                  <a:sym typeface="Calibri"/>
                </a:rPr>
                <a:t>Materials Project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130403" y="4283583"/>
            <a:ext cx="4271010" cy="869442"/>
            <a:chOff x="0" y="0"/>
            <a:chExt cx="5694680" cy="11592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946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69468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5545074" y="0"/>
                  </a:lnTo>
                  <a:cubicBezTo>
                    <a:pt x="5627624" y="0"/>
                    <a:pt x="5694680" y="66929"/>
                    <a:pt x="5694680" y="149606"/>
                  </a:cubicBezTo>
                  <a:lnTo>
                    <a:pt x="5694680" y="1009650"/>
                  </a:lnTo>
                  <a:cubicBezTo>
                    <a:pt x="5694680" y="1092200"/>
                    <a:pt x="5627751" y="1159256"/>
                    <a:pt x="554507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DF3E8"/>
            </a:solidFill>
            <a:ln w="19050" cap="sq">
              <a:solidFill>
                <a:srgbClr val="FDF3E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139928" y="4293108"/>
            <a:ext cx="4251960" cy="850392"/>
            <a:chOff x="0" y="0"/>
            <a:chExt cx="5669280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692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133856"/>
                  </a:lnTo>
                  <a:lnTo>
                    <a:pt x="0" y="1133856"/>
                  </a:lnTo>
                  <a:close/>
                </a:path>
              </a:pathLst>
            </a:custGeom>
            <a:noFill/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66928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6"/>
                </a:lnSpc>
              </a:pPr>
              <a:r>
                <a:rPr lang="en-US" sz="2425" b="true">
                  <a:solidFill>
                    <a:srgbClr val="2E6171"/>
                  </a:solidFill>
                  <a:latin typeface="Calibri"/>
                  <a:ea typeface="Calibri"/>
                  <a:cs typeface="Calibri"/>
                  <a:sym typeface="Calibri"/>
                </a:rPr>
                <a:t>Your filesystem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130403" y="5353431"/>
            <a:ext cx="4271010" cy="869442"/>
            <a:chOff x="0" y="0"/>
            <a:chExt cx="5694680" cy="11592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946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69468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5545074" y="0"/>
                  </a:lnTo>
                  <a:cubicBezTo>
                    <a:pt x="5627624" y="0"/>
                    <a:pt x="5694680" y="66929"/>
                    <a:pt x="5694680" y="149606"/>
                  </a:cubicBezTo>
                  <a:lnTo>
                    <a:pt x="5694680" y="1009650"/>
                  </a:lnTo>
                  <a:cubicBezTo>
                    <a:pt x="5694680" y="1092200"/>
                    <a:pt x="5627751" y="1159256"/>
                    <a:pt x="554507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DF3E8"/>
            </a:solidFill>
            <a:ln w="19050" cap="sq">
              <a:solidFill>
                <a:srgbClr val="FDF3E8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3139928" y="5362956"/>
            <a:ext cx="4251960" cy="850392"/>
            <a:chOff x="0" y="0"/>
            <a:chExt cx="5669280" cy="11338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692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133856"/>
                  </a:lnTo>
                  <a:lnTo>
                    <a:pt x="0" y="1133856"/>
                  </a:lnTo>
                  <a:close/>
                </a:path>
              </a:pathLst>
            </a:custGeom>
            <a:noFill/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66928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6"/>
                </a:lnSpc>
              </a:pPr>
              <a:r>
                <a:rPr lang="en-US" sz="2425" b="true">
                  <a:solidFill>
                    <a:srgbClr val="2E6171"/>
                  </a:solidFill>
                  <a:latin typeface="Calibri"/>
                  <a:ea typeface="Calibri"/>
                  <a:cs typeface="Calibri"/>
                  <a:sym typeface="Calibri"/>
                </a:rPr>
                <a:t>arXiv / literature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30403" y="6423279"/>
            <a:ext cx="4271010" cy="869442"/>
            <a:chOff x="0" y="0"/>
            <a:chExt cx="5694680" cy="11592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94680" cy="1159256"/>
            </a:xfrm>
            <a:custGeom>
              <a:avLst/>
              <a:gdLst/>
              <a:ahLst/>
              <a:cxnLst/>
              <a:rect r="r" b="b" t="t" l="l"/>
              <a:pathLst>
                <a:path h="1159256" w="5694680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5545074" y="0"/>
                  </a:lnTo>
                  <a:cubicBezTo>
                    <a:pt x="5627624" y="0"/>
                    <a:pt x="5694680" y="66929"/>
                    <a:pt x="5694680" y="149606"/>
                  </a:cubicBezTo>
                  <a:lnTo>
                    <a:pt x="5694680" y="1009650"/>
                  </a:lnTo>
                  <a:cubicBezTo>
                    <a:pt x="5694680" y="1092200"/>
                    <a:pt x="5627751" y="1159256"/>
                    <a:pt x="5545074" y="1159256"/>
                  </a:cubicBezTo>
                  <a:lnTo>
                    <a:pt x="149606" y="1159256"/>
                  </a:lnTo>
                  <a:cubicBezTo>
                    <a:pt x="66929" y="1159256"/>
                    <a:pt x="0" y="1092327"/>
                    <a:pt x="0" y="1009650"/>
                  </a:cubicBezTo>
                  <a:close/>
                </a:path>
              </a:pathLst>
            </a:custGeom>
            <a:solidFill>
              <a:srgbClr val="FDF3E8"/>
            </a:solidFill>
            <a:ln w="19050" cap="sq">
              <a:solidFill>
                <a:srgbClr val="FDF3E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139928" y="6432804"/>
            <a:ext cx="4251960" cy="850392"/>
            <a:chOff x="0" y="0"/>
            <a:chExt cx="5669280" cy="11338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669280" cy="1133856"/>
            </a:xfrm>
            <a:custGeom>
              <a:avLst/>
              <a:gdLst/>
              <a:ahLst/>
              <a:cxnLst/>
              <a:rect r="r" b="b" t="t" l="l"/>
              <a:pathLst>
                <a:path h="113385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133856"/>
                  </a:lnTo>
                  <a:lnTo>
                    <a:pt x="0" y="1133856"/>
                  </a:lnTo>
                  <a:close/>
                </a:path>
              </a:pathLst>
            </a:custGeom>
            <a:noFill/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669280" cy="11719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6"/>
                </a:lnSpc>
              </a:pPr>
              <a:r>
                <a:rPr lang="en-US" sz="2425" b="true">
                  <a:solidFill>
                    <a:srgbClr val="2E6171"/>
                  </a:solidFill>
                  <a:latin typeface="Calibri"/>
                  <a:ea typeface="Calibri"/>
                  <a:cs typeface="Calibri"/>
                  <a:sym typeface="Calibri"/>
                </a:rPr>
                <a:t>A lab instrument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 rot="51120">
            <a:off x="5170256" y="3638931"/>
            <a:ext cx="1921593" cy="0"/>
          </a:xfrm>
          <a:prstGeom prst="line">
            <a:avLst/>
          </a:prstGeom>
          <a:ln cap="rnd" w="19050">
            <a:solidFill>
              <a:srgbClr val="B8C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rot="49680">
            <a:off x="11136716" y="3638931"/>
            <a:ext cx="1976457" cy="0"/>
          </a:xfrm>
          <a:prstGeom prst="line">
            <a:avLst/>
          </a:prstGeom>
          <a:ln cap="rnd" w="19050">
            <a:solidFill>
              <a:srgbClr val="B8C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rot="51120">
            <a:off x="5170256" y="4708779"/>
            <a:ext cx="1921593" cy="0"/>
          </a:xfrm>
          <a:prstGeom prst="line">
            <a:avLst/>
          </a:prstGeom>
          <a:ln cap="rnd" w="19050">
            <a:solidFill>
              <a:srgbClr val="B8C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rot="49680">
            <a:off x="11136716" y="4708779"/>
            <a:ext cx="1976457" cy="0"/>
          </a:xfrm>
          <a:prstGeom prst="line">
            <a:avLst/>
          </a:prstGeom>
          <a:ln cap="rnd" w="19050">
            <a:solidFill>
              <a:srgbClr val="B8C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rot="51120">
            <a:off x="5170256" y="5778627"/>
            <a:ext cx="1921593" cy="0"/>
          </a:xfrm>
          <a:prstGeom prst="line">
            <a:avLst/>
          </a:prstGeom>
          <a:ln cap="rnd" w="19050">
            <a:solidFill>
              <a:srgbClr val="B8C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rot="49680">
            <a:off x="11136716" y="5778627"/>
            <a:ext cx="1976457" cy="0"/>
          </a:xfrm>
          <a:prstGeom prst="line">
            <a:avLst/>
          </a:prstGeom>
          <a:ln cap="rnd" w="19050">
            <a:solidFill>
              <a:srgbClr val="B8C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rot="51120">
            <a:off x="5170256" y="6848475"/>
            <a:ext cx="1921593" cy="0"/>
          </a:xfrm>
          <a:prstGeom prst="line">
            <a:avLst/>
          </a:prstGeom>
          <a:ln cap="rnd" w="19050">
            <a:solidFill>
              <a:srgbClr val="B8C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rot="49680">
            <a:off x="11136716" y="6848475"/>
            <a:ext cx="1976457" cy="0"/>
          </a:xfrm>
          <a:prstGeom prst="line">
            <a:avLst/>
          </a:prstGeom>
          <a:ln cap="rnd" w="19050">
            <a:solidFill>
              <a:srgbClr val="B8C4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7" id="57"/>
          <p:cNvSpPr txBox="true"/>
          <p:nvPr/>
        </p:nvSpPr>
        <p:spPr>
          <a:xfrm rot="0">
            <a:off x="891540" y="7595235"/>
            <a:ext cx="1645920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525" i="true">
                <a:solidFill>
                  <a:srgbClr val="12233F"/>
                </a:solidFill>
                <a:latin typeface="Calibri"/>
                <a:ea typeface="Calibri"/>
                <a:cs typeface="Calibri"/>
                <a:sym typeface="Calibri"/>
              </a:rPr>
              <a:t>Practical consequence: the Materials Project maintains one MCP server, and it works in whichever agent you prefer. You are not locked to a vendor.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91540" y="9504045"/>
            <a:ext cx="164592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350" i="true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Materials Project MCP: docs.materialsproject.org/services/ml-and-ai-applications/mcp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540" y="492633"/>
            <a:ext cx="150876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b="true" sz="1650" spc="299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MINDSET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540" y="895731"/>
            <a:ext cx="164592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The right mental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2015" y="2459355"/>
            <a:ext cx="16519398" cy="1870710"/>
            <a:chOff x="0" y="0"/>
            <a:chExt cx="22025864" cy="2494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25865" cy="2494280"/>
            </a:xfrm>
            <a:custGeom>
              <a:avLst/>
              <a:gdLst/>
              <a:ahLst/>
              <a:cxnLst/>
              <a:rect r="r" b="b" t="t" l="l"/>
              <a:pathLst>
                <a:path h="2494280" w="22025865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21878037" y="0"/>
                  </a:lnTo>
                  <a:cubicBezTo>
                    <a:pt x="21959698" y="0"/>
                    <a:pt x="22025865" y="66167"/>
                    <a:pt x="22025865" y="147828"/>
                  </a:cubicBezTo>
                  <a:lnTo>
                    <a:pt x="22025865" y="2346452"/>
                  </a:lnTo>
                  <a:cubicBezTo>
                    <a:pt x="22025865" y="2428113"/>
                    <a:pt x="21959698" y="2494280"/>
                    <a:pt x="21878037" y="2494280"/>
                  </a:cubicBezTo>
                  <a:lnTo>
                    <a:pt x="147828" y="2494280"/>
                  </a:lnTo>
                  <a:cubicBezTo>
                    <a:pt x="66167" y="2494280"/>
                    <a:pt x="0" y="2428113"/>
                    <a:pt x="0" y="2346452"/>
                  </a:cubicBezTo>
                  <a:close/>
                </a:path>
              </a:pathLst>
            </a:custGeom>
            <a:solidFill>
              <a:srgbClr val="12233F"/>
            </a:solidFill>
            <a:ln w="19050" cap="sq">
              <a:solidFill>
                <a:srgbClr val="12233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1600" y="2674620"/>
            <a:ext cx="15499080" cy="1440180"/>
            <a:chOff x="0" y="0"/>
            <a:chExt cx="20665440" cy="19202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65439" cy="1920240"/>
            </a:xfrm>
            <a:custGeom>
              <a:avLst/>
              <a:gdLst/>
              <a:ahLst/>
              <a:cxnLst/>
              <a:rect r="r" b="b" t="t" l="l"/>
              <a:pathLst>
                <a:path h="192024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920240"/>
                  </a:lnTo>
                  <a:lnTo>
                    <a:pt x="0" y="1920240"/>
                  </a:lnTo>
                  <a:close/>
                </a:path>
              </a:pathLst>
            </a:custGeom>
            <a:noFill/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0665440" cy="1977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1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Treat it as a fast, tireless new postdoc who has read everything — and knows nothing about your group.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03020" y="4653915"/>
            <a:ext cx="7406640" cy="46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F7D58"/>
                </a:solidFill>
                <a:latin typeface="Cambria"/>
                <a:ea typeface="Cambria"/>
                <a:cs typeface="Cambria"/>
                <a:sym typeface="Cambria"/>
              </a:rPr>
              <a:t>Strengths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01200" y="4653915"/>
            <a:ext cx="7406640" cy="46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A4413C"/>
                </a:solidFill>
                <a:latin typeface="Cambria"/>
                <a:ea typeface="Cambria"/>
                <a:cs typeface="Cambria"/>
                <a:sym typeface="Cambria"/>
              </a:rPr>
              <a:t>Blind spots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03020" y="5280660"/>
            <a:ext cx="7406640" cy="754380"/>
            <a:chOff x="0" y="0"/>
            <a:chExt cx="987552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noFill/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75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Reads any format, never gets tired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01200" y="5280660"/>
            <a:ext cx="7406640" cy="754380"/>
            <a:chOff x="0" y="0"/>
            <a:chExt cx="987552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noFill/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875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Has never seen your INCAR conventions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4140">
            <a:off x="1293485" y="6098858"/>
            <a:ext cx="15723880" cy="0"/>
          </a:xfrm>
          <a:prstGeom prst="line">
            <a:avLst/>
          </a:prstGeom>
          <a:ln cap="rnd" w="9525">
            <a:solidFill>
              <a:srgbClr val="DCE3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03020" y="6185916"/>
            <a:ext cx="7406640" cy="754380"/>
            <a:chOff x="0" y="0"/>
            <a:chExt cx="987552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noFill/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875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Knows the literature broadly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0" y="6185916"/>
            <a:ext cx="7406640" cy="754380"/>
            <a:chOff x="0" y="0"/>
            <a:chExt cx="987552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noFill/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875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Will confidently invent a tag that doesn't exist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4140">
            <a:off x="1293485" y="7004114"/>
            <a:ext cx="15723880" cy="0"/>
          </a:xfrm>
          <a:prstGeom prst="line">
            <a:avLst/>
          </a:prstGeom>
          <a:ln cap="rnd" w="9525">
            <a:solidFill>
              <a:srgbClr val="DCE3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303020" y="7091172"/>
            <a:ext cx="7406640" cy="754380"/>
            <a:chOff x="0" y="0"/>
            <a:chExt cx="987552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noFill/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875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Writes code faster than you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01200" y="7091172"/>
            <a:ext cx="7406640" cy="754380"/>
            <a:chOff x="0" y="0"/>
            <a:chExt cx="987552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noFill/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875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Cannot tell a converged result from a plausible one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4140">
            <a:off x="1293485" y="7909370"/>
            <a:ext cx="15723880" cy="0"/>
          </a:xfrm>
          <a:prstGeom prst="line">
            <a:avLst/>
          </a:prstGeom>
          <a:ln cap="rnd" w="9525">
            <a:solidFill>
              <a:srgbClr val="DCE3E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303020" y="7996428"/>
            <a:ext cx="7406640" cy="754380"/>
            <a:chOff x="0" y="0"/>
            <a:chExt cx="987552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noFill/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875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Will try nine approaches at 2 a.m.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0" y="7996428"/>
            <a:ext cx="7406640" cy="754380"/>
            <a:chOff x="0" y="0"/>
            <a:chExt cx="987552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875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05840"/>
                  </a:lnTo>
                  <a:lnTo>
                    <a:pt x="0" y="1005840"/>
                  </a:lnTo>
                  <a:close/>
                </a:path>
              </a:pathLst>
            </a:custGeom>
            <a:noFill/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875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Has no stake in whether the physics is right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91540" y="8858250"/>
            <a:ext cx="16459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 i="tru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You stay the PI. Delegation is not abdication.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540" y="492633"/>
            <a:ext cx="150876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b="true" sz="1650" spc="299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PRACTICE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540" y="895731"/>
            <a:ext cx="164592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The interactive loop you should run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2015" y="2431923"/>
            <a:ext cx="16519398" cy="1184910"/>
            <a:chOff x="0" y="0"/>
            <a:chExt cx="22025864" cy="1579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25865" cy="1579880"/>
            </a:xfrm>
            <a:custGeom>
              <a:avLst/>
              <a:gdLst/>
              <a:ahLst/>
              <a:cxnLst/>
              <a:rect r="r" b="b" t="t" l="l"/>
              <a:pathLst>
                <a:path h="1579880" w="22025865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21877147" y="0"/>
                  </a:lnTo>
                  <a:cubicBezTo>
                    <a:pt x="21959317" y="0"/>
                    <a:pt x="22025865" y="66548"/>
                    <a:pt x="22025865" y="148717"/>
                  </a:cubicBezTo>
                  <a:lnTo>
                    <a:pt x="22025865" y="1431163"/>
                  </a:lnTo>
                  <a:cubicBezTo>
                    <a:pt x="22025865" y="1513332"/>
                    <a:pt x="21959317" y="1579880"/>
                    <a:pt x="21877147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03020" y="2674620"/>
            <a:ext cx="685800" cy="685800"/>
            <a:chOff x="0" y="0"/>
            <a:chExt cx="9144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" y="2674620"/>
            <a:ext cx="685800" cy="685800"/>
            <a:chOff x="0" y="0"/>
            <a:chExt cx="914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63140" y="2441448"/>
            <a:ext cx="2606040" cy="1165860"/>
            <a:chOff x="0" y="0"/>
            <a:chExt cx="347472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74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554480"/>
                  </a:lnTo>
                  <a:lnTo>
                    <a:pt x="0" y="1554480"/>
                  </a:lnTo>
                  <a:close/>
                </a:path>
              </a:pathLst>
            </a:custGeom>
            <a:noFill/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347472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Frame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800600" y="2441448"/>
            <a:ext cx="12207240" cy="1165860"/>
            <a:chOff x="0" y="0"/>
            <a:chExt cx="1627632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276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554480"/>
                  </a:lnTo>
                  <a:lnTo>
                    <a:pt x="0" y="1554480"/>
                  </a:lnTo>
                  <a:close/>
                </a:path>
              </a:pathLst>
            </a:custGeom>
            <a:noFill/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2763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State the goal, the constraints, and how you'll know it worked.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2015" y="3762375"/>
            <a:ext cx="16519398" cy="1184910"/>
            <a:chOff x="0" y="0"/>
            <a:chExt cx="22025864" cy="1579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25865" cy="1579880"/>
            </a:xfrm>
            <a:custGeom>
              <a:avLst/>
              <a:gdLst/>
              <a:ahLst/>
              <a:cxnLst/>
              <a:rect r="r" b="b" t="t" l="l"/>
              <a:pathLst>
                <a:path h="1579880" w="22025865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21877147" y="0"/>
                  </a:lnTo>
                  <a:cubicBezTo>
                    <a:pt x="21959317" y="0"/>
                    <a:pt x="22025865" y="66548"/>
                    <a:pt x="22025865" y="148717"/>
                  </a:cubicBezTo>
                  <a:lnTo>
                    <a:pt x="22025865" y="1431163"/>
                  </a:lnTo>
                  <a:cubicBezTo>
                    <a:pt x="22025865" y="1513332"/>
                    <a:pt x="21959317" y="1579880"/>
                    <a:pt x="21877147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4005072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03020" y="4005072"/>
            <a:ext cx="685800" cy="685800"/>
            <a:chOff x="0" y="0"/>
            <a:chExt cx="91440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263140" y="3771900"/>
            <a:ext cx="2606040" cy="1165860"/>
            <a:chOff x="0" y="0"/>
            <a:chExt cx="3474720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74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554480"/>
                  </a:lnTo>
                  <a:lnTo>
                    <a:pt x="0" y="1554480"/>
                  </a:lnTo>
                  <a:close/>
                </a:path>
              </a:pathLst>
            </a:custGeom>
            <a:noFill/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47472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Plan first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800600" y="3771900"/>
            <a:ext cx="12207240" cy="1165860"/>
            <a:chOff x="0" y="0"/>
            <a:chExt cx="1627632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276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554480"/>
                  </a:lnTo>
                  <a:lnTo>
                    <a:pt x="0" y="1554480"/>
                  </a:lnTo>
                  <a:close/>
                </a:path>
              </a:pathLst>
            </a:custGeom>
            <a:noFill/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62763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"Explain your plan. Don't execute yet." Catch the wrong approach before it costs an hour.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82015" y="5092827"/>
            <a:ext cx="16519398" cy="1184910"/>
            <a:chOff x="0" y="0"/>
            <a:chExt cx="22025864" cy="1579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25865" cy="1579880"/>
            </a:xfrm>
            <a:custGeom>
              <a:avLst/>
              <a:gdLst/>
              <a:ahLst/>
              <a:cxnLst/>
              <a:rect r="r" b="b" t="t" l="l"/>
              <a:pathLst>
                <a:path h="1579880" w="22025865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21877147" y="0"/>
                  </a:lnTo>
                  <a:cubicBezTo>
                    <a:pt x="21959317" y="0"/>
                    <a:pt x="22025865" y="66548"/>
                    <a:pt x="22025865" y="148717"/>
                  </a:cubicBezTo>
                  <a:lnTo>
                    <a:pt x="22025865" y="1431163"/>
                  </a:lnTo>
                  <a:cubicBezTo>
                    <a:pt x="22025865" y="1513332"/>
                    <a:pt x="21959317" y="1579880"/>
                    <a:pt x="21877147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03020" y="5335524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03020" y="5335524"/>
            <a:ext cx="685800" cy="685800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263140" y="5102352"/>
            <a:ext cx="2606040" cy="1165860"/>
            <a:chOff x="0" y="0"/>
            <a:chExt cx="347472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74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554480"/>
                  </a:lnTo>
                  <a:lnTo>
                    <a:pt x="0" y="1554480"/>
                  </a:lnTo>
                  <a:close/>
                </a:path>
              </a:pathLst>
            </a:custGeom>
            <a:noFill/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47472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Small steps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800600" y="5102352"/>
            <a:ext cx="12207240" cy="1165860"/>
            <a:chOff x="0" y="0"/>
            <a:chExt cx="1627632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276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554480"/>
                  </a:lnTo>
                  <a:lnTo>
                    <a:pt x="0" y="1554480"/>
                  </a:lnTo>
                  <a:close/>
                </a:path>
              </a:pathLst>
            </a:custGeom>
            <a:noFill/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62763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One file, one function, one error at a time. Long autonomous runs drift.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82015" y="6423279"/>
            <a:ext cx="16519398" cy="1184910"/>
            <a:chOff x="0" y="0"/>
            <a:chExt cx="22025864" cy="1579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025865" cy="1579880"/>
            </a:xfrm>
            <a:custGeom>
              <a:avLst/>
              <a:gdLst/>
              <a:ahLst/>
              <a:cxnLst/>
              <a:rect r="r" b="b" t="t" l="l"/>
              <a:pathLst>
                <a:path h="1579880" w="22025865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21877147" y="0"/>
                  </a:lnTo>
                  <a:cubicBezTo>
                    <a:pt x="21959317" y="0"/>
                    <a:pt x="22025865" y="66548"/>
                    <a:pt x="22025865" y="148717"/>
                  </a:cubicBezTo>
                  <a:lnTo>
                    <a:pt x="22025865" y="1431163"/>
                  </a:lnTo>
                  <a:cubicBezTo>
                    <a:pt x="22025865" y="1513332"/>
                    <a:pt x="21959317" y="1579880"/>
                    <a:pt x="21877147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03020" y="6665976"/>
            <a:ext cx="685800" cy="685800"/>
            <a:chOff x="0" y="0"/>
            <a:chExt cx="9144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03020" y="6665976"/>
            <a:ext cx="685800" cy="685800"/>
            <a:chOff x="0" y="0"/>
            <a:chExt cx="914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263140" y="6432804"/>
            <a:ext cx="2606040" cy="1165860"/>
            <a:chOff x="0" y="0"/>
            <a:chExt cx="3474720" cy="1554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74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554480"/>
                  </a:lnTo>
                  <a:lnTo>
                    <a:pt x="0" y="1554480"/>
                  </a:lnTo>
                  <a:close/>
                </a:path>
              </a:pathLst>
            </a:custGeom>
            <a:noFill/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347472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Verify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800600" y="6432804"/>
            <a:ext cx="12207240" cy="1165860"/>
            <a:chOff x="0" y="0"/>
            <a:chExt cx="16276320" cy="15544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276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554480"/>
                  </a:lnTo>
                  <a:lnTo>
                    <a:pt x="0" y="1554480"/>
                  </a:lnTo>
                  <a:close/>
                </a:path>
              </a:pathLst>
            </a:custGeom>
            <a:noFill/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62763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Spot-check numbers against a source it can't see. Read what it changed before accepting.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82015" y="7753731"/>
            <a:ext cx="16519398" cy="1184910"/>
            <a:chOff x="0" y="0"/>
            <a:chExt cx="22025864" cy="15798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025865" cy="1579880"/>
            </a:xfrm>
            <a:custGeom>
              <a:avLst/>
              <a:gdLst/>
              <a:ahLst/>
              <a:cxnLst/>
              <a:rect r="r" b="b" t="t" l="l"/>
              <a:pathLst>
                <a:path h="1579880" w="22025865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21877147" y="0"/>
                  </a:lnTo>
                  <a:cubicBezTo>
                    <a:pt x="21959317" y="0"/>
                    <a:pt x="22025865" y="66548"/>
                    <a:pt x="22025865" y="148717"/>
                  </a:cubicBezTo>
                  <a:lnTo>
                    <a:pt x="22025865" y="1431163"/>
                  </a:lnTo>
                  <a:cubicBezTo>
                    <a:pt x="22025865" y="1513332"/>
                    <a:pt x="21959317" y="1579880"/>
                    <a:pt x="21877147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303020" y="7996428"/>
            <a:ext cx="685800" cy="685800"/>
            <a:chOff x="0" y="0"/>
            <a:chExt cx="914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03020" y="7996428"/>
            <a:ext cx="685800" cy="685800"/>
            <a:chOff x="0" y="0"/>
            <a:chExt cx="91440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noFill/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263140" y="7763256"/>
            <a:ext cx="2606040" cy="1165860"/>
            <a:chOff x="0" y="0"/>
            <a:chExt cx="3474720" cy="15544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74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554480"/>
                  </a:lnTo>
                  <a:lnTo>
                    <a:pt x="0" y="1554480"/>
                  </a:lnTo>
                  <a:close/>
                </a:path>
              </a:pathLst>
            </a:custGeom>
            <a:noFill/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47472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Commit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800600" y="7763256"/>
            <a:ext cx="12207240" cy="1165860"/>
            <a:chOff x="0" y="0"/>
            <a:chExt cx="16276320" cy="15544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276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554480"/>
                  </a:lnTo>
                  <a:lnTo>
                    <a:pt x="0" y="1554480"/>
                  </a:lnTo>
                  <a:close/>
                </a:path>
              </a:pathLst>
            </a:custGeom>
            <a:noFill/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627632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425">
                  <a:solidFill>
                    <a:srgbClr val="1A2230"/>
                  </a:solidFill>
                  <a:latin typeface="Calibri"/>
                  <a:ea typeface="Calibri"/>
                  <a:cs typeface="Calibri"/>
                  <a:sym typeface="Calibri"/>
                </a:rPr>
                <a:t>git commit at every working state. Free undo when a later step goes wrong.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891540" y="9151620"/>
            <a:ext cx="16459200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425" i="tru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Steps 2 and 4 are the ones people skip — and they are the whole difference between a useful session and a wasted afternoon.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540" y="492633"/>
            <a:ext cx="150876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b="true" sz="1650" spc="299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540" y="895731"/>
            <a:ext cx="164592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Permissions, scope, and the cluster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2015" y="2390775"/>
            <a:ext cx="16519398" cy="1322070"/>
            <a:chOff x="0" y="0"/>
            <a:chExt cx="22025864" cy="1762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25865" cy="1762760"/>
            </a:xfrm>
            <a:custGeom>
              <a:avLst/>
              <a:gdLst/>
              <a:ahLst/>
              <a:cxnLst/>
              <a:rect r="r" b="b" t="t" l="l"/>
              <a:pathLst>
                <a:path h="1762760" w="22025865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1877401" y="0"/>
                  </a:lnTo>
                  <a:cubicBezTo>
                    <a:pt x="21959443" y="0"/>
                    <a:pt x="22025865" y="66421"/>
                    <a:pt x="22025865" y="148463"/>
                  </a:cubicBezTo>
                  <a:lnTo>
                    <a:pt x="22025865" y="1614297"/>
                  </a:lnTo>
                  <a:cubicBezTo>
                    <a:pt x="22025865" y="1696339"/>
                    <a:pt x="21959443" y="1762760"/>
                    <a:pt x="21877401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F5E6E4"/>
            </a:solidFill>
            <a:ln w="19050" cap="sq">
              <a:solidFill>
                <a:srgbClr val="F5E6E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1600" y="2400300"/>
            <a:ext cx="15499080" cy="1303020"/>
            <a:chOff x="0" y="0"/>
            <a:chExt cx="20665440" cy="1737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65439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737360"/>
                  </a:lnTo>
                  <a:lnTo>
                    <a:pt x="0" y="1737360"/>
                  </a:lnTo>
                  <a:close/>
                </a:path>
              </a:pathLst>
            </a:custGeom>
            <a:noFill/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0665440" cy="1794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A4413C"/>
                  </a:solidFill>
                  <a:latin typeface="Calibri"/>
                  <a:ea typeface="Calibri"/>
                  <a:cs typeface="Calibri"/>
                  <a:sym typeface="Calibri"/>
                </a:rPr>
                <a:t>The agent runs as you. It has your permissions, your quota, your submit rights. The approval prompt is the boundary — not a sandbox. In the tutorial we add one: a container.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015" y="4036695"/>
            <a:ext cx="7905750" cy="1500378"/>
            <a:chOff x="0" y="0"/>
            <a:chExt cx="10541000" cy="20005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41000" cy="2000504"/>
            </a:xfrm>
            <a:custGeom>
              <a:avLst/>
              <a:gdLst/>
              <a:ahLst/>
              <a:cxnLst/>
              <a:rect r="r" b="b" t="t" l="l"/>
              <a:pathLst>
                <a:path h="2000504" w="105410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10392791" y="0"/>
                  </a:lnTo>
                  <a:cubicBezTo>
                    <a:pt x="10474706" y="0"/>
                    <a:pt x="10541000" y="66294"/>
                    <a:pt x="10541000" y="148209"/>
                  </a:cubicBezTo>
                  <a:lnTo>
                    <a:pt x="10541000" y="1852295"/>
                  </a:lnTo>
                  <a:cubicBezTo>
                    <a:pt x="10541000" y="1934083"/>
                    <a:pt x="10474706" y="2000504"/>
                    <a:pt x="1039279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03020" y="4191762"/>
            <a:ext cx="71323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Scope it to a directory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3020" y="4602099"/>
            <a:ext cx="7132320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Start the agent inside the project folder. Reads outside it should prompt — or be blocked outright.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17355" y="4036695"/>
            <a:ext cx="7905750" cy="1500378"/>
            <a:chOff x="0" y="0"/>
            <a:chExt cx="10541000" cy="20005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41000" cy="2000504"/>
            </a:xfrm>
            <a:custGeom>
              <a:avLst/>
              <a:gdLst/>
              <a:ahLst/>
              <a:cxnLst/>
              <a:rect r="r" b="b" t="t" l="l"/>
              <a:pathLst>
                <a:path h="2000504" w="105410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10392791" y="0"/>
                  </a:lnTo>
                  <a:cubicBezTo>
                    <a:pt x="10474706" y="0"/>
                    <a:pt x="10541000" y="66294"/>
                    <a:pt x="10541000" y="148209"/>
                  </a:cubicBezTo>
                  <a:lnTo>
                    <a:pt x="10541000" y="1852295"/>
                  </a:lnTo>
                  <a:cubicBezTo>
                    <a:pt x="10541000" y="1934083"/>
                    <a:pt x="10474706" y="2000504"/>
                    <a:pt x="1039279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738360" y="4191762"/>
            <a:ext cx="71323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Read-only first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38360" y="4602099"/>
            <a:ext cx="7132320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Let it analyse before it writes. Most of the value is in reading anyway.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82015" y="5710047"/>
            <a:ext cx="7905750" cy="1500378"/>
            <a:chOff x="0" y="0"/>
            <a:chExt cx="10541000" cy="20005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41000" cy="2000504"/>
            </a:xfrm>
            <a:custGeom>
              <a:avLst/>
              <a:gdLst/>
              <a:ahLst/>
              <a:cxnLst/>
              <a:rect r="r" b="b" t="t" l="l"/>
              <a:pathLst>
                <a:path h="2000504" w="105410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10392791" y="0"/>
                  </a:lnTo>
                  <a:cubicBezTo>
                    <a:pt x="10474706" y="0"/>
                    <a:pt x="10541000" y="66294"/>
                    <a:pt x="10541000" y="148209"/>
                  </a:cubicBezTo>
                  <a:lnTo>
                    <a:pt x="10541000" y="1852295"/>
                  </a:lnTo>
                  <a:cubicBezTo>
                    <a:pt x="10541000" y="1934083"/>
                    <a:pt x="10474706" y="2000504"/>
                    <a:pt x="1039279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303020" y="5865114"/>
            <a:ext cx="71323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Never bypass approvals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3020" y="6275451"/>
            <a:ext cx="7132320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Skipping permission prompts on a shared cluster is how you delete someone else's scratch.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317355" y="5710047"/>
            <a:ext cx="7905750" cy="1500378"/>
            <a:chOff x="0" y="0"/>
            <a:chExt cx="10541000" cy="20005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41000" cy="2000504"/>
            </a:xfrm>
            <a:custGeom>
              <a:avLst/>
              <a:gdLst/>
              <a:ahLst/>
              <a:cxnLst/>
              <a:rect r="r" b="b" t="t" l="l"/>
              <a:pathLst>
                <a:path h="2000504" w="105410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10392791" y="0"/>
                  </a:lnTo>
                  <a:cubicBezTo>
                    <a:pt x="10474706" y="0"/>
                    <a:pt x="10541000" y="66294"/>
                    <a:pt x="10541000" y="148209"/>
                  </a:cubicBezTo>
                  <a:lnTo>
                    <a:pt x="10541000" y="1852295"/>
                  </a:lnTo>
                  <a:cubicBezTo>
                    <a:pt x="10541000" y="1934083"/>
                    <a:pt x="10474706" y="2000504"/>
                    <a:pt x="1039279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738360" y="5865114"/>
            <a:ext cx="71323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Keep secrets out of reach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38360" y="6275451"/>
            <a:ext cx="7132320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Don't let it read ~/.ssh, API keys, or the group's shared secrets.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82015" y="7383399"/>
            <a:ext cx="7905750" cy="1500378"/>
            <a:chOff x="0" y="0"/>
            <a:chExt cx="10541000" cy="20005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41000" cy="2000504"/>
            </a:xfrm>
            <a:custGeom>
              <a:avLst/>
              <a:gdLst/>
              <a:ahLst/>
              <a:cxnLst/>
              <a:rect r="r" b="b" t="t" l="l"/>
              <a:pathLst>
                <a:path h="2000504" w="105410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10392791" y="0"/>
                  </a:lnTo>
                  <a:cubicBezTo>
                    <a:pt x="10474706" y="0"/>
                    <a:pt x="10541000" y="66294"/>
                    <a:pt x="10541000" y="148209"/>
                  </a:cubicBezTo>
                  <a:lnTo>
                    <a:pt x="10541000" y="1852295"/>
                  </a:lnTo>
                  <a:cubicBezTo>
                    <a:pt x="10541000" y="1934083"/>
                    <a:pt x="10474706" y="2000504"/>
                    <a:pt x="1039279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303020" y="7538466"/>
            <a:ext cx="71323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You submit the jobs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03020" y="7948803"/>
            <a:ext cx="7132320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The agent writes the submission script; a human runs sbatch. Non-negotiable for shared allocations.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17355" y="7383399"/>
            <a:ext cx="7905750" cy="1500378"/>
            <a:chOff x="0" y="0"/>
            <a:chExt cx="10541000" cy="20005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41000" cy="2000504"/>
            </a:xfrm>
            <a:custGeom>
              <a:avLst/>
              <a:gdLst/>
              <a:ahLst/>
              <a:cxnLst/>
              <a:rect r="r" b="b" t="t" l="l"/>
              <a:pathLst>
                <a:path h="2000504" w="1054100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10392791" y="0"/>
                  </a:lnTo>
                  <a:cubicBezTo>
                    <a:pt x="10474706" y="0"/>
                    <a:pt x="10541000" y="66294"/>
                    <a:pt x="10541000" y="148209"/>
                  </a:cubicBezTo>
                  <a:lnTo>
                    <a:pt x="10541000" y="1852295"/>
                  </a:lnTo>
                  <a:cubicBezTo>
                    <a:pt x="10541000" y="1934083"/>
                    <a:pt x="10474706" y="2000504"/>
                    <a:pt x="10392791" y="2000504"/>
                  </a:cubicBezTo>
                  <a:lnTo>
                    <a:pt x="148209" y="2000504"/>
                  </a:lnTo>
                  <a:cubicBezTo>
                    <a:pt x="66294" y="2000504"/>
                    <a:pt x="0" y="1934210"/>
                    <a:pt x="0" y="1852295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738360" y="7538466"/>
            <a:ext cx="713232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Know what leaves the machine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38360" y="7948803"/>
            <a:ext cx="7132320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1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Anything it reads is sent to the provider. Check your institution's policy for unpublished data.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540" y="492633"/>
            <a:ext cx="150876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b="true" sz="1650" spc="299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REALITY CHECK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540" y="895731"/>
            <a:ext cx="164592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How it fails — and it will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2015" y="2527935"/>
            <a:ext cx="5217414" cy="2625090"/>
            <a:chOff x="0" y="0"/>
            <a:chExt cx="6956552" cy="3500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6552" cy="3500120"/>
            </a:xfrm>
            <a:custGeom>
              <a:avLst/>
              <a:gdLst/>
              <a:ahLst/>
              <a:cxnLst/>
              <a:rect r="r" b="b" t="t" l="l"/>
              <a:pathLst>
                <a:path h="3500120" w="695655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809105" y="0"/>
                  </a:lnTo>
                  <a:cubicBezTo>
                    <a:pt x="6890512" y="0"/>
                    <a:pt x="6956552" y="66040"/>
                    <a:pt x="6956552" y="147447"/>
                  </a:cubicBezTo>
                  <a:lnTo>
                    <a:pt x="6956552" y="3352673"/>
                  </a:lnTo>
                  <a:cubicBezTo>
                    <a:pt x="6956552" y="3434080"/>
                    <a:pt x="6890512" y="3500120"/>
                    <a:pt x="6809105" y="3500120"/>
                  </a:cubicBezTo>
                  <a:lnTo>
                    <a:pt x="147447" y="3500120"/>
                  </a:lnTo>
                  <a:cubicBezTo>
                    <a:pt x="66040" y="3500120"/>
                    <a:pt x="0" y="3434080"/>
                    <a:pt x="0" y="3352673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03020" y="2880360"/>
            <a:ext cx="617220" cy="617220"/>
            <a:chOff x="0" y="0"/>
            <a:chExt cx="822960" cy="822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A4413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" y="2880360"/>
            <a:ext cx="617220" cy="617220"/>
            <a:chOff x="0" y="0"/>
            <a:chExt cx="822960" cy="822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noFill/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2296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!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03020" y="3643122"/>
            <a:ext cx="445770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Confident wrong physics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3020" y="4080891"/>
            <a:ext cx="445770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075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Invents a plausible INCAR tag; explains it fluently. Fluency is not correctness.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33007" y="2527935"/>
            <a:ext cx="5217414" cy="2625090"/>
            <a:chOff x="0" y="0"/>
            <a:chExt cx="6956552" cy="3500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56552" cy="3500120"/>
            </a:xfrm>
            <a:custGeom>
              <a:avLst/>
              <a:gdLst/>
              <a:ahLst/>
              <a:cxnLst/>
              <a:rect r="r" b="b" t="t" l="l"/>
              <a:pathLst>
                <a:path h="3500120" w="695655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809105" y="0"/>
                  </a:lnTo>
                  <a:cubicBezTo>
                    <a:pt x="6890512" y="0"/>
                    <a:pt x="6956552" y="66040"/>
                    <a:pt x="6956552" y="147447"/>
                  </a:cubicBezTo>
                  <a:lnTo>
                    <a:pt x="6956552" y="3352673"/>
                  </a:lnTo>
                  <a:cubicBezTo>
                    <a:pt x="6956552" y="3434080"/>
                    <a:pt x="6890512" y="3500120"/>
                    <a:pt x="6809105" y="3500120"/>
                  </a:cubicBezTo>
                  <a:lnTo>
                    <a:pt x="147447" y="3500120"/>
                  </a:lnTo>
                  <a:cubicBezTo>
                    <a:pt x="66040" y="3500120"/>
                    <a:pt x="0" y="3434080"/>
                    <a:pt x="0" y="3352673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954012" y="2880360"/>
            <a:ext cx="617220" cy="617220"/>
            <a:chOff x="0" y="0"/>
            <a:chExt cx="82296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A4413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954012" y="2880360"/>
            <a:ext cx="617220" cy="617220"/>
            <a:chOff x="0" y="0"/>
            <a:chExt cx="822960" cy="8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noFill/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82296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!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954012" y="3643122"/>
            <a:ext cx="445770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Silent scope creep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54012" y="4080891"/>
            <a:ext cx="445770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075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You asked it to fix one script; it rewrote four. Check what it changed.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83999" y="2527935"/>
            <a:ext cx="5217414" cy="2625090"/>
            <a:chOff x="0" y="0"/>
            <a:chExt cx="6956552" cy="35001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56552" cy="3500120"/>
            </a:xfrm>
            <a:custGeom>
              <a:avLst/>
              <a:gdLst/>
              <a:ahLst/>
              <a:cxnLst/>
              <a:rect r="r" b="b" t="t" l="l"/>
              <a:pathLst>
                <a:path h="3500120" w="695655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809105" y="0"/>
                  </a:lnTo>
                  <a:cubicBezTo>
                    <a:pt x="6890512" y="0"/>
                    <a:pt x="6956552" y="66040"/>
                    <a:pt x="6956552" y="147447"/>
                  </a:cubicBezTo>
                  <a:lnTo>
                    <a:pt x="6956552" y="3352673"/>
                  </a:lnTo>
                  <a:cubicBezTo>
                    <a:pt x="6956552" y="3434080"/>
                    <a:pt x="6890512" y="3500120"/>
                    <a:pt x="6809105" y="3500120"/>
                  </a:cubicBezTo>
                  <a:lnTo>
                    <a:pt x="147447" y="3500120"/>
                  </a:lnTo>
                  <a:cubicBezTo>
                    <a:pt x="66040" y="3500120"/>
                    <a:pt x="0" y="3434080"/>
                    <a:pt x="0" y="3352673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605004" y="2880360"/>
            <a:ext cx="617220" cy="617220"/>
            <a:chOff x="0" y="0"/>
            <a:chExt cx="822960" cy="822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A4413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05004" y="2880360"/>
            <a:ext cx="617220" cy="617220"/>
            <a:chOff x="0" y="0"/>
            <a:chExt cx="82296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noFill/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82296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!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605004" y="3643122"/>
            <a:ext cx="445770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Stale memory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05004" y="4080891"/>
            <a:ext cx="445770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075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It edited the file 20 steps ago and still believes the old version.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82015" y="5408295"/>
            <a:ext cx="5217414" cy="2625090"/>
            <a:chOff x="0" y="0"/>
            <a:chExt cx="6956552" cy="3500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56552" cy="3500120"/>
            </a:xfrm>
            <a:custGeom>
              <a:avLst/>
              <a:gdLst/>
              <a:ahLst/>
              <a:cxnLst/>
              <a:rect r="r" b="b" t="t" l="l"/>
              <a:pathLst>
                <a:path h="3500120" w="695655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809105" y="0"/>
                  </a:lnTo>
                  <a:cubicBezTo>
                    <a:pt x="6890512" y="0"/>
                    <a:pt x="6956552" y="66040"/>
                    <a:pt x="6956552" y="147447"/>
                  </a:cubicBezTo>
                  <a:lnTo>
                    <a:pt x="6956552" y="3352673"/>
                  </a:lnTo>
                  <a:cubicBezTo>
                    <a:pt x="6956552" y="3434080"/>
                    <a:pt x="6890512" y="3500120"/>
                    <a:pt x="6809105" y="3500120"/>
                  </a:cubicBezTo>
                  <a:lnTo>
                    <a:pt x="147447" y="3500120"/>
                  </a:lnTo>
                  <a:cubicBezTo>
                    <a:pt x="66040" y="3500120"/>
                    <a:pt x="0" y="3434080"/>
                    <a:pt x="0" y="3352673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03020" y="5760720"/>
            <a:ext cx="617220" cy="617220"/>
            <a:chOff x="0" y="0"/>
            <a:chExt cx="82296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A4413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03020" y="5760720"/>
            <a:ext cx="617220" cy="617220"/>
            <a:chOff x="0" y="0"/>
            <a:chExt cx="822960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noFill/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82296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!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03020" y="6523482"/>
            <a:ext cx="445770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Lost in long runs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03020" y="6961251"/>
            <a:ext cx="445770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075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Autonomy degrades with length. Restart rather than push through.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533007" y="5408295"/>
            <a:ext cx="5217414" cy="2625090"/>
            <a:chOff x="0" y="0"/>
            <a:chExt cx="6956552" cy="3500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56552" cy="3500120"/>
            </a:xfrm>
            <a:custGeom>
              <a:avLst/>
              <a:gdLst/>
              <a:ahLst/>
              <a:cxnLst/>
              <a:rect r="r" b="b" t="t" l="l"/>
              <a:pathLst>
                <a:path h="3500120" w="695655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809105" y="0"/>
                  </a:lnTo>
                  <a:cubicBezTo>
                    <a:pt x="6890512" y="0"/>
                    <a:pt x="6956552" y="66040"/>
                    <a:pt x="6956552" y="147447"/>
                  </a:cubicBezTo>
                  <a:lnTo>
                    <a:pt x="6956552" y="3352673"/>
                  </a:lnTo>
                  <a:cubicBezTo>
                    <a:pt x="6956552" y="3434080"/>
                    <a:pt x="6890512" y="3500120"/>
                    <a:pt x="6809105" y="3500120"/>
                  </a:cubicBezTo>
                  <a:lnTo>
                    <a:pt x="147447" y="3500120"/>
                  </a:lnTo>
                  <a:cubicBezTo>
                    <a:pt x="66040" y="3500120"/>
                    <a:pt x="0" y="3434080"/>
                    <a:pt x="0" y="3352673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954012" y="5760720"/>
            <a:ext cx="617220" cy="617220"/>
            <a:chOff x="0" y="0"/>
            <a:chExt cx="822960" cy="8229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A4413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954012" y="5760720"/>
            <a:ext cx="617220" cy="617220"/>
            <a:chOff x="0" y="0"/>
            <a:chExt cx="822960" cy="822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noFill/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82296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!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6954012" y="6523482"/>
            <a:ext cx="445770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Expensive loops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954012" y="6961251"/>
            <a:ext cx="445770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075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Retries a broken approach forever. Interrupt and re-frame.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183999" y="5408295"/>
            <a:ext cx="5217414" cy="2625090"/>
            <a:chOff x="0" y="0"/>
            <a:chExt cx="6956552" cy="3500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956552" cy="3500120"/>
            </a:xfrm>
            <a:custGeom>
              <a:avLst/>
              <a:gdLst/>
              <a:ahLst/>
              <a:cxnLst/>
              <a:rect r="r" b="b" t="t" l="l"/>
              <a:pathLst>
                <a:path h="3500120" w="695655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809105" y="0"/>
                  </a:lnTo>
                  <a:cubicBezTo>
                    <a:pt x="6890512" y="0"/>
                    <a:pt x="6956552" y="66040"/>
                    <a:pt x="6956552" y="147447"/>
                  </a:cubicBezTo>
                  <a:lnTo>
                    <a:pt x="6956552" y="3352673"/>
                  </a:lnTo>
                  <a:cubicBezTo>
                    <a:pt x="6956552" y="3434080"/>
                    <a:pt x="6890512" y="3500120"/>
                    <a:pt x="6809105" y="3500120"/>
                  </a:cubicBezTo>
                  <a:lnTo>
                    <a:pt x="147447" y="3500120"/>
                  </a:lnTo>
                  <a:cubicBezTo>
                    <a:pt x="66040" y="3500120"/>
                    <a:pt x="0" y="3434080"/>
                    <a:pt x="0" y="3352673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605004" y="5760720"/>
            <a:ext cx="617220" cy="617220"/>
            <a:chOff x="0" y="0"/>
            <a:chExt cx="822960" cy="8229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A4413C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605004" y="5760720"/>
            <a:ext cx="617220" cy="617220"/>
            <a:chOff x="0" y="0"/>
            <a:chExt cx="822960" cy="8229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noFill/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82296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!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2605004" y="6523482"/>
            <a:ext cx="445770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Unreproducible by default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605004" y="6961251"/>
            <a:ext cx="445770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075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Same prompt, different path. Save the script it wrote, not the chat.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82015" y="8425815"/>
            <a:ext cx="16519398" cy="1006602"/>
            <a:chOff x="0" y="0"/>
            <a:chExt cx="22025864" cy="13421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025863" cy="1342136"/>
            </a:xfrm>
            <a:custGeom>
              <a:avLst/>
              <a:gdLst/>
              <a:ahLst/>
              <a:cxnLst/>
              <a:rect r="r" b="b" t="t" l="l"/>
              <a:pathLst>
                <a:path h="1342136" w="22025863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21876765" y="0"/>
                  </a:lnTo>
                  <a:cubicBezTo>
                    <a:pt x="21959061" y="0"/>
                    <a:pt x="22025863" y="66802"/>
                    <a:pt x="22025863" y="149098"/>
                  </a:cubicBezTo>
                  <a:lnTo>
                    <a:pt x="22025863" y="1193038"/>
                  </a:lnTo>
                  <a:cubicBezTo>
                    <a:pt x="22025863" y="1275334"/>
                    <a:pt x="21959061" y="1342136"/>
                    <a:pt x="21876765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12233F"/>
            </a:solidFill>
            <a:ln w="19050" cap="sq">
              <a:solidFill>
                <a:srgbClr val="12233F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371600" y="8435340"/>
            <a:ext cx="15499080" cy="987552"/>
            <a:chOff x="0" y="0"/>
            <a:chExt cx="20665440" cy="13167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665439" cy="1316736"/>
            </a:xfrm>
            <a:custGeom>
              <a:avLst/>
              <a:gdLst/>
              <a:ahLst/>
              <a:cxnLst/>
              <a:rect r="r" b="b" t="t" l="l"/>
              <a:pathLst>
                <a:path h="1316736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316736"/>
                  </a:lnTo>
                  <a:lnTo>
                    <a:pt x="0" y="1316736"/>
                  </a:lnTo>
                  <a:close/>
                </a:path>
              </a:pathLst>
            </a:custGeom>
            <a:noFill/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2066544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E08A3C"/>
                  </a:solidFill>
                  <a:latin typeface="Calibri"/>
                  <a:ea typeface="Calibri"/>
                  <a:cs typeface="Calibri"/>
                  <a:sym typeface="Calibri"/>
                </a:rPr>
                <a:t>Anything an agent produces is a hypothesis until you have verified it. That rule does not relax with better models.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1540" y="492633"/>
            <a:ext cx="150876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b="true" sz="1650" spc="299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TAKEAWAYS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1540" y="895731"/>
            <a:ext cx="16459200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Now, hands 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2015" y="2596515"/>
            <a:ext cx="5217414" cy="3790950"/>
            <a:chOff x="0" y="0"/>
            <a:chExt cx="6956552" cy="505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56551" cy="5054600"/>
            </a:xfrm>
            <a:custGeom>
              <a:avLst/>
              <a:gdLst/>
              <a:ahLst/>
              <a:cxnLst/>
              <a:rect r="r" b="b" t="t" l="l"/>
              <a:pathLst>
                <a:path h="5054600" w="6956551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809486" y="0"/>
                  </a:lnTo>
                  <a:cubicBezTo>
                    <a:pt x="6890638" y="0"/>
                    <a:pt x="6956551" y="65786"/>
                    <a:pt x="6956551" y="147066"/>
                  </a:cubicBezTo>
                  <a:lnTo>
                    <a:pt x="6956551" y="4907534"/>
                  </a:lnTo>
                  <a:cubicBezTo>
                    <a:pt x="6956551" y="4988687"/>
                    <a:pt x="6890765" y="5054600"/>
                    <a:pt x="6809486" y="5054600"/>
                  </a:cubicBezTo>
                  <a:lnTo>
                    <a:pt x="147066" y="5054600"/>
                  </a:lnTo>
                  <a:cubicBezTo>
                    <a:pt x="65786" y="5054600"/>
                    <a:pt x="0" y="4988814"/>
                    <a:pt x="0" y="4907534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03020" y="2948940"/>
            <a:ext cx="754380" cy="754380"/>
            <a:chOff x="0" y="0"/>
            <a:chExt cx="100584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" y="2948940"/>
            <a:ext cx="754380" cy="754380"/>
            <a:chOff x="0" y="0"/>
            <a:chExt cx="1005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noFill/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03020" y="3899535"/>
            <a:ext cx="4457700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Install one agent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3020" y="4743450"/>
            <a:ext cx="445770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Claude Code or Gemini CLI. The notebook walks you through it: first in VS Code, then inside a container.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33007" y="2596515"/>
            <a:ext cx="5217414" cy="3790950"/>
            <a:chOff x="0" y="0"/>
            <a:chExt cx="6956552" cy="5054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56551" cy="5054600"/>
            </a:xfrm>
            <a:custGeom>
              <a:avLst/>
              <a:gdLst/>
              <a:ahLst/>
              <a:cxnLst/>
              <a:rect r="r" b="b" t="t" l="l"/>
              <a:pathLst>
                <a:path h="5054600" w="6956551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809486" y="0"/>
                  </a:lnTo>
                  <a:cubicBezTo>
                    <a:pt x="6890638" y="0"/>
                    <a:pt x="6956551" y="65786"/>
                    <a:pt x="6956551" y="147066"/>
                  </a:cubicBezTo>
                  <a:lnTo>
                    <a:pt x="6956551" y="4907534"/>
                  </a:lnTo>
                  <a:cubicBezTo>
                    <a:pt x="6956551" y="4988687"/>
                    <a:pt x="6890765" y="5054600"/>
                    <a:pt x="6809486" y="5054600"/>
                  </a:cubicBezTo>
                  <a:lnTo>
                    <a:pt x="147066" y="5054600"/>
                  </a:lnTo>
                  <a:cubicBezTo>
                    <a:pt x="65786" y="5054600"/>
                    <a:pt x="0" y="4988814"/>
                    <a:pt x="0" y="4907534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954012" y="2948940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954012" y="2948940"/>
            <a:ext cx="754380" cy="754380"/>
            <a:chOff x="0" y="0"/>
            <a:chExt cx="100584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noFill/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954012" y="3899535"/>
            <a:ext cx="4457700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Watch the tool calls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54012" y="4743450"/>
            <a:ext cx="445770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Every claim should trace back to a file it read or a command it ran. No tool call behind it means unverified.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183999" y="2596515"/>
            <a:ext cx="5217414" cy="3790950"/>
            <a:chOff x="0" y="0"/>
            <a:chExt cx="6956552" cy="5054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56551" cy="5054600"/>
            </a:xfrm>
            <a:custGeom>
              <a:avLst/>
              <a:gdLst/>
              <a:ahLst/>
              <a:cxnLst/>
              <a:rect r="r" b="b" t="t" l="l"/>
              <a:pathLst>
                <a:path h="5054600" w="6956551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6809486" y="0"/>
                  </a:lnTo>
                  <a:cubicBezTo>
                    <a:pt x="6890638" y="0"/>
                    <a:pt x="6956551" y="65786"/>
                    <a:pt x="6956551" y="147066"/>
                  </a:cubicBezTo>
                  <a:lnTo>
                    <a:pt x="6956551" y="4907534"/>
                  </a:lnTo>
                  <a:cubicBezTo>
                    <a:pt x="6956551" y="4988687"/>
                    <a:pt x="6890765" y="5054600"/>
                    <a:pt x="6809486" y="5054600"/>
                  </a:cubicBezTo>
                  <a:lnTo>
                    <a:pt x="147066" y="5054600"/>
                  </a:lnTo>
                  <a:cubicBezTo>
                    <a:pt x="65786" y="5054600"/>
                    <a:pt x="0" y="4988814"/>
                    <a:pt x="0" y="4907534"/>
                  </a:cubicBezTo>
                  <a:close/>
                </a:path>
              </a:pathLst>
            </a:custGeom>
            <a:solidFill>
              <a:srgbClr val="EEF2F6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605004" y="2948940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08A3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05004" y="2948940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noFill/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525" b="true">
                  <a:solidFill>
                    <a:srgbClr val="12233F"/>
                  </a:solidFill>
                  <a:latin typeface="Cambria"/>
                  <a:ea typeface="Cambria"/>
                  <a:cs typeface="Cambria"/>
                  <a:sym typeface="Cambria"/>
                </a:rPr>
                <a:t>3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605004" y="3899535"/>
            <a:ext cx="4457700" cy="83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12233F"/>
                </a:solidFill>
                <a:latin typeface="Cambria"/>
                <a:ea typeface="Cambria"/>
                <a:cs typeface="Cambria"/>
                <a:sym typeface="Cambria"/>
              </a:rPr>
              <a:t>Give it one real annoyance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05004" y="4743450"/>
            <a:ext cx="4457700" cy="163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250">
                <a:solidFill>
                  <a:srgbClr val="1A2230"/>
                </a:solidFill>
                <a:latin typeface="Calibri"/>
                <a:ea typeface="Calibri"/>
                <a:cs typeface="Calibri"/>
                <a:sym typeface="Calibri"/>
              </a:rPr>
              <a:t>The parsing script you keep postponing. Judge it on that, not on a toy example.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82015" y="6711315"/>
            <a:ext cx="16519398" cy="2693670"/>
            <a:chOff x="0" y="0"/>
            <a:chExt cx="22025864" cy="35915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025863" cy="3591560"/>
            </a:xfrm>
            <a:custGeom>
              <a:avLst/>
              <a:gdLst/>
              <a:ahLst/>
              <a:cxnLst/>
              <a:rect r="r" b="b" t="t" l="l"/>
              <a:pathLst>
                <a:path h="3591560" w="22025863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21878544" y="0"/>
                  </a:lnTo>
                  <a:cubicBezTo>
                    <a:pt x="21959951" y="0"/>
                    <a:pt x="22025863" y="65913"/>
                    <a:pt x="22025863" y="147320"/>
                  </a:cubicBezTo>
                  <a:lnTo>
                    <a:pt x="22025863" y="3444240"/>
                  </a:lnTo>
                  <a:cubicBezTo>
                    <a:pt x="22025863" y="3525647"/>
                    <a:pt x="21959951" y="3591560"/>
                    <a:pt x="21878544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12233F"/>
            </a:solidFill>
            <a:ln w="19050" cap="sq">
              <a:solidFill>
                <a:srgbClr val="12233F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371600" y="6888480"/>
            <a:ext cx="82296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075" b="true">
                <a:solidFill>
                  <a:srgbClr val="E08A3C"/>
                </a:solidFill>
                <a:latin typeface="Calibri"/>
                <a:ea typeface="Calibri"/>
                <a:cs typeface="Calibri"/>
                <a:sym typeface="Calibri"/>
              </a:rPr>
              <a:t>Three things to remember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1600" y="7311390"/>
            <a:ext cx="15499080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400" b="tru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loop is the invention, not the model.</a:t>
            </a:r>
          </a:p>
          <a:p>
            <a:pPr algn="l">
              <a:lnSpc>
                <a:spcPts val="3750"/>
              </a:lnSpc>
            </a:pPr>
            <a:r>
              <a:rPr lang="en-US" sz="2400">
                <a:solidFill>
                  <a:srgbClr val="C9D6E3"/>
                </a:solidFill>
                <a:latin typeface="Cambria"/>
                <a:ea typeface="Cambria"/>
                <a:cs typeface="Cambria"/>
                <a:sym typeface="Cambria"/>
              </a:rPr>
              <a:t>Plan first, verify always, commit often.</a:t>
            </a:r>
          </a:p>
          <a:p>
            <a:pPr algn="l">
              <a:lnSpc>
                <a:spcPts val="3750"/>
              </a:lnSpc>
            </a:pPr>
            <a:r>
              <a:rPr lang="en-US" sz="2400" b="true">
                <a:solidFill>
                  <a:srgbClr val="E08A3C"/>
                </a:solidFill>
                <a:latin typeface="Cambria"/>
                <a:ea typeface="Cambria"/>
                <a:cs typeface="Cambria"/>
                <a:sym typeface="Cambria"/>
              </a:rPr>
              <a:t>Delegate the work — keep the judgement.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DAHV2_XFwVI</dc:identifier>
  <dcterms:modified xsi:type="dcterms:W3CDTF">2011-08-01T06:04:30Z</dcterms:modified>
  <cp:revision>1</cp:revision>
  <dc:title>agents_materials_science.pptx</dc:title>
</cp:coreProperties>
</file>